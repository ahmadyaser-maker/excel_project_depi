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314" r:id="rId6"/>
    <p:sldId id="309" r:id="rId7"/>
    <p:sldId id="279" r:id="rId8"/>
    <p:sldId id="310" r:id="rId9"/>
    <p:sldId id="294" r:id="rId10"/>
    <p:sldId id="318" r:id="rId11"/>
    <p:sldId id="316" r:id="rId12"/>
    <p:sldId id="319" r:id="rId13"/>
    <p:sldId id="317" r:id="rId14"/>
    <p:sldId id="311" r:id="rId15"/>
    <p:sldId id="280" r:id="rId16"/>
    <p:sldId id="320" r:id="rId17"/>
    <p:sldId id="321" r:id="rId18"/>
    <p:sldId id="322" r:id="rId19"/>
    <p:sldId id="324" r:id="rId20"/>
    <p:sldId id="323" r:id="rId21"/>
    <p:sldId id="312" r:id="rId22"/>
    <p:sldId id="295" r:id="rId23"/>
    <p:sldId id="313" r:id="rId24"/>
    <p:sldId id="296" r:id="rId25"/>
    <p:sldId id="271" r:id="rId26"/>
  </p:sldIdLst>
  <p:sldSz cx="18288000" cy="10287000"/>
  <p:notesSz cx="6858000" cy="9144000"/>
  <p:embeddedFontLst>
    <p:embeddedFont>
      <p:font typeface="Poppins" panose="00000500000000000000" pitchFamily="2" charset="0"/>
      <p:regular r:id="rId28"/>
      <p:bold r:id="rId29"/>
      <p:italic r:id="rId30"/>
      <p:boldItalic r:id="rId31"/>
    </p:embeddedFont>
    <p:embeddedFont>
      <p:font typeface="Poppins Bold" panose="00000800000000000000" charset="0"/>
      <p:regular r:id="rId32"/>
    </p:embeddedFont>
    <p:embeddedFont>
      <p:font typeface="Segoe UI" panose="020B0502040204020203" pitchFamily="34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A3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4622" autoAdjust="0"/>
  </p:normalViewPr>
  <p:slideViewPr>
    <p:cSldViewPr>
      <p:cViewPr>
        <p:scale>
          <a:sx n="50" d="100"/>
          <a:sy n="50" d="100"/>
        </p:scale>
        <p:origin x="94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0618C-851D-4C98-ADAA-3A69305550E5}" type="datetimeFigureOut">
              <a:rPr lang="en-US" smtClean="0"/>
              <a:t>2026-04-15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FBB9C1-39A7-485E-80CE-C485D1BD2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20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2026-04-15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2026-04-15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2026-04-15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2026-04-15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2026-04-15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2026-04-15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2026-04-15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png"/><Relationship Id="rId9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sv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004232" y="2015966"/>
            <a:ext cx="6255068" cy="6255068"/>
          </a:xfrm>
          <a:custGeom>
            <a:avLst/>
            <a:gdLst/>
            <a:ahLst/>
            <a:cxnLst/>
            <a:rect l="l" t="t" r="r" b="b"/>
            <a:pathLst>
              <a:path w="6255068" h="6255068">
                <a:moveTo>
                  <a:pt x="0" y="0"/>
                </a:moveTo>
                <a:lnTo>
                  <a:pt x="6255068" y="0"/>
                </a:lnTo>
                <a:lnTo>
                  <a:pt x="6255068" y="6255068"/>
                </a:lnTo>
                <a:lnTo>
                  <a:pt x="0" y="62550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043214" y="6843208"/>
            <a:ext cx="6947174" cy="1805491"/>
            <a:chOff x="0" y="0"/>
            <a:chExt cx="1829708" cy="3789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9708" cy="378946"/>
            </a:xfrm>
            <a:custGeom>
              <a:avLst/>
              <a:gdLst/>
              <a:ahLst/>
              <a:cxnLst/>
              <a:rect l="l" t="t" r="r" b="b"/>
              <a:pathLst>
                <a:path w="1829708" h="378946">
                  <a:moveTo>
                    <a:pt x="111440" y="0"/>
                  </a:moveTo>
                  <a:lnTo>
                    <a:pt x="1718269" y="0"/>
                  </a:lnTo>
                  <a:cubicBezTo>
                    <a:pt x="1779815" y="0"/>
                    <a:pt x="1829708" y="49893"/>
                    <a:pt x="1829708" y="111440"/>
                  </a:cubicBezTo>
                  <a:lnTo>
                    <a:pt x="1829708" y="267506"/>
                  </a:lnTo>
                  <a:cubicBezTo>
                    <a:pt x="1829708" y="297062"/>
                    <a:pt x="1817968" y="325407"/>
                    <a:pt x="1797068" y="346306"/>
                  </a:cubicBezTo>
                  <a:cubicBezTo>
                    <a:pt x="1776169" y="367205"/>
                    <a:pt x="1747824" y="378946"/>
                    <a:pt x="1718269" y="378946"/>
                  </a:cubicBezTo>
                  <a:lnTo>
                    <a:pt x="111440" y="378946"/>
                  </a:lnTo>
                  <a:cubicBezTo>
                    <a:pt x="81884" y="378946"/>
                    <a:pt x="53539" y="367205"/>
                    <a:pt x="32640" y="346306"/>
                  </a:cubicBezTo>
                  <a:cubicBezTo>
                    <a:pt x="11741" y="325407"/>
                    <a:pt x="0" y="297062"/>
                    <a:pt x="0" y="267506"/>
                  </a:cubicBezTo>
                  <a:lnTo>
                    <a:pt x="0" y="111440"/>
                  </a:lnTo>
                  <a:cubicBezTo>
                    <a:pt x="0" y="81884"/>
                    <a:pt x="11741" y="53539"/>
                    <a:pt x="32640" y="32640"/>
                  </a:cubicBezTo>
                  <a:cubicBezTo>
                    <a:pt x="53539" y="11741"/>
                    <a:pt x="81884" y="0"/>
                    <a:pt x="111440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829708" cy="436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8700" y="1028700"/>
            <a:ext cx="642386" cy="729984"/>
          </a:xfrm>
          <a:custGeom>
            <a:avLst/>
            <a:gdLst/>
            <a:ahLst/>
            <a:cxnLst/>
            <a:rect l="l" t="t" r="r" b="b"/>
            <a:pathLst>
              <a:path w="642386" h="729984">
                <a:moveTo>
                  <a:pt x="0" y="0"/>
                </a:moveTo>
                <a:lnTo>
                  <a:pt x="642386" y="0"/>
                </a:lnTo>
                <a:lnTo>
                  <a:pt x="642386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3178002"/>
            <a:ext cx="11021062" cy="3500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Manufacturing</a:t>
            </a:r>
            <a:br>
              <a:rPr lang="en-US" sz="9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</a:br>
            <a:r>
              <a:rPr lang="en-US" sz="9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Downtime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3944" y="7257396"/>
            <a:ext cx="6085713" cy="1315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6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Final Project</a:t>
            </a:r>
            <a:br>
              <a:rPr lang="en-US" sz="6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6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Team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734300" y="478762"/>
            <a:ext cx="2819400" cy="91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</a:pPr>
            <a:r>
              <a:rPr lang="en-US" sz="6999" b="1" u="none" strike="noStrike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Team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0A1E093-49A5-17D8-0D9E-4C21AB62B9CD}"/>
              </a:ext>
            </a:extLst>
          </p:cNvPr>
          <p:cNvGrpSpPr/>
          <p:nvPr/>
        </p:nvGrpSpPr>
        <p:grpSpPr>
          <a:xfrm>
            <a:off x="4084609" y="4583353"/>
            <a:ext cx="3336486" cy="4930499"/>
            <a:chOff x="4064062" y="2415181"/>
            <a:chExt cx="3336486" cy="4930499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2F687A6-0700-CBD6-AE0C-A29B55D01070}"/>
                </a:ext>
              </a:extLst>
            </p:cNvPr>
            <p:cNvSpPr/>
            <p:nvPr/>
          </p:nvSpPr>
          <p:spPr>
            <a:xfrm>
              <a:off x="4064062" y="2415181"/>
              <a:ext cx="3336486" cy="4930499"/>
            </a:xfrm>
            <a:prstGeom prst="roundRect">
              <a:avLst/>
            </a:prstGeom>
            <a:solidFill>
              <a:srgbClr val="5CA3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2E71A11-F6E7-C853-66EF-A93ACA38E352}"/>
                </a:ext>
              </a:extLst>
            </p:cNvPr>
            <p:cNvSpPr txBox="1"/>
            <p:nvPr/>
          </p:nvSpPr>
          <p:spPr>
            <a:xfrm>
              <a:off x="4278148" y="5498082"/>
              <a:ext cx="301316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solidFill>
                    <a:schemeClr val="bg1"/>
                  </a:solidFill>
                </a:rPr>
                <a:t>Abdulrahman Mohamad 01551474804</a:t>
              </a:r>
            </a:p>
            <a:p>
              <a:r>
                <a:rPr lang="en-US" sz="2200" dirty="0">
                  <a:solidFill>
                    <a:schemeClr val="bg1"/>
                  </a:solidFill>
                </a:rPr>
                <a:t>www.linkedin.com/in/abdulrahman-salahuddin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3858C945-7E20-B3C4-1C7E-145A4BE85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37" t="27470" r="48890" b="26455"/>
            <a:stretch>
              <a:fillRect/>
            </a:stretch>
          </p:blipFill>
          <p:spPr>
            <a:xfrm>
              <a:off x="4140262" y="5638800"/>
              <a:ext cx="182880" cy="211316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9F5356F-D577-0A6D-C317-50935DED15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6333" y="6324823"/>
              <a:ext cx="182880" cy="18288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1865FD7-5C0F-99FE-663E-9D371AA34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6333" y="5976868"/>
              <a:ext cx="182880" cy="182880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EDBEC681-F982-F037-2105-5D38ACDB7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54029" y="2662248"/>
              <a:ext cx="2723196" cy="2723196"/>
            </a:xfrm>
            <a:prstGeom prst="rect">
              <a:avLst/>
            </a:prstGeom>
          </p:spPr>
        </p:pic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2CE62FE-24DA-3CE9-50C3-FBFCFFC6E37E}"/>
                </a:ext>
              </a:extLst>
            </p:cNvPr>
            <p:cNvSpPr/>
            <p:nvPr/>
          </p:nvSpPr>
          <p:spPr>
            <a:xfrm>
              <a:off x="4080377" y="2529071"/>
              <a:ext cx="3260286" cy="2969011"/>
            </a:xfrm>
            <a:custGeom>
              <a:avLst/>
              <a:gdLst>
                <a:gd name="csX0" fmla="*/ 1630143 w 3260286"/>
                <a:gd name="csY0" fmla="*/ 141493 h 2930502"/>
                <a:gd name="csX1" fmla="*/ 304800 w 3260286"/>
                <a:gd name="csY1" fmla="*/ 1480860 h 2930502"/>
                <a:gd name="csX2" fmla="*/ 1630143 w 3260286"/>
                <a:gd name="csY2" fmla="*/ 2820227 h 2930502"/>
                <a:gd name="csX3" fmla="*/ 2955486 w 3260286"/>
                <a:gd name="csY3" fmla="*/ 1480860 h 2930502"/>
                <a:gd name="csX4" fmla="*/ 1630143 w 3260286"/>
                <a:gd name="csY4" fmla="*/ 141493 h 2930502"/>
                <a:gd name="csX5" fmla="*/ 488427 w 3260286"/>
                <a:gd name="csY5" fmla="*/ 0 h 2930502"/>
                <a:gd name="csX6" fmla="*/ 2771859 w 3260286"/>
                <a:gd name="csY6" fmla="*/ 0 h 2930502"/>
                <a:gd name="csX7" fmla="*/ 3260286 w 3260286"/>
                <a:gd name="csY7" fmla="*/ 488427 h 2930502"/>
                <a:gd name="csX8" fmla="*/ 3260286 w 3260286"/>
                <a:gd name="csY8" fmla="*/ 2442075 h 2930502"/>
                <a:gd name="csX9" fmla="*/ 2771859 w 3260286"/>
                <a:gd name="csY9" fmla="*/ 2930502 h 2930502"/>
                <a:gd name="csX10" fmla="*/ 488427 w 3260286"/>
                <a:gd name="csY10" fmla="*/ 2930502 h 2930502"/>
                <a:gd name="csX11" fmla="*/ 0 w 3260286"/>
                <a:gd name="csY11" fmla="*/ 2442075 h 2930502"/>
                <a:gd name="csX12" fmla="*/ 0 w 3260286"/>
                <a:gd name="csY12" fmla="*/ 488427 h 2930502"/>
                <a:gd name="csX13" fmla="*/ 488427 w 3260286"/>
                <a:gd name="csY13" fmla="*/ 0 h 2930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260286" h="2930502">
                  <a:moveTo>
                    <a:pt x="1630143" y="141493"/>
                  </a:moveTo>
                  <a:cubicBezTo>
                    <a:pt x="898176" y="141493"/>
                    <a:pt x="304800" y="741148"/>
                    <a:pt x="304800" y="1480860"/>
                  </a:cubicBezTo>
                  <a:cubicBezTo>
                    <a:pt x="304800" y="2220572"/>
                    <a:pt x="898176" y="2820227"/>
                    <a:pt x="1630143" y="2820227"/>
                  </a:cubicBezTo>
                  <a:cubicBezTo>
                    <a:pt x="2362110" y="2820227"/>
                    <a:pt x="2955486" y="2220572"/>
                    <a:pt x="2955486" y="1480860"/>
                  </a:cubicBezTo>
                  <a:cubicBezTo>
                    <a:pt x="2955486" y="741148"/>
                    <a:pt x="2362110" y="141493"/>
                    <a:pt x="1630143" y="141493"/>
                  </a:cubicBezTo>
                  <a:close/>
                  <a:moveTo>
                    <a:pt x="488427" y="0"/>
                  </a:moveTo>
                  <a:lnTo>
                    <a:pt x="2771859" y="0"/>
                  </a:lnTo>
                  <a:cubicBezTo>
                    <a:pt x="3041610" y="0"/>
                    <a:pt x="3260286" y="218676"/>
                    <a:pt x="3260286" y="488427"/>
                  </a:cubicBezTo>
                  <a:lnTo>
                    <a:pt x="3260286" y="2442075"/>
                  </a:lnTo>
                  <a:cubicBezTo>
                    <a:pt x="3260286" y="2711826"/>
                    <a:pt x="3041610" y="2930502"/>
                    <a:pt x="2771859" y="2930502"/>
                  </a:cubicBezTo>
                  <a:lnTo>
                    <a:pt x="488427" y="2930502"/>
                  </a:lnTo>
                  <a:cubicBezTo>
                    <a:pt x="218676" y="2930502"/>
                    <a:pt x="0" y="2711826"/>
                    <a:pt x="0" y="2442075"/>
                  </a:cubicBezTo>
                  <a:lnTo>
                    <a:pt x="0" y="488427"/>
                  </a:lnTo>
                  <a:cubicBezTo>
                    <a:pt x="0" y="218676"/>
                    <a:pt x="218676" y="0"/>
                    <a:pt x="488427" y="0"/>
                  </a:cubicBezTo>
                  <a:close/>
                </a:path>
              </a:pathLst>
            </a:custGeom>
            <a:solidFill>
              <a:srgbClr val="5CA3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3C924E-4B49-5AFF-90D2-6E7281BA599F}"/>
              </a:ext>
            </a:extLst>
          </p:cNvPr>
          <p:cNvGrpSpPr/>
          <p:nvPr/>
        </p:nvGrpSpPr>
        <p:grpSpPr>
          <a:xfrm>
            <a:off x="631025" y="1168375"/>
            <a:ext cx="3336486" cy="4930499"/>
            <a:chOff x="457200" y="2415181"/>
            <a:chExt cx="3336486" cy="493049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A5D9F41-CFFB-22CB-7A44-FD1B87DD350A}"/>
                </a:ext>
              </a:extLst>
            </p:cNvPr>
            <p:cNvSpPr/>
            <p:nvPr/>
          </p:nvSpPr>
          <p:spPr>
            <a:xfrm>
              <a:off x="457200" y="2415181"/>
              <a:ext cx="3336486" cy="4930499"/>
            </a:xfrm>
            <a:prstGeom prst="roundRect">
              <a:avLst/>
            </a:prstGeom>
            <a:solidFill>
              <a:srgbClr val="5CA3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6A5B69F-2150-C5B8-1997-6C6746D299F6}"/>
                </a:ext>
              </a:extLst>
            </p:cNvPr>
            <p:cNvSpPr txBox="1"/>
            <p:nvPr/>
          </p:nvSpPr>
          <p:spPr>
            <a:xfrm>
              <a:off x="671286" y="5498083"/>
              <a:ext cx="30480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Ahmed Yasser </a:t>
              </a:r>
              <a:br>
                <a:rPr lang="en-US" sz="2400" dirty="0">
                  <a:solidFill>
                    <a:schemeClr val="bg1"/>
                  </a:solidFill>
                </a:rPr>
              </a:br>
              <a:r>
                <a:rPr lang="en-US" sz="2400" dirty="0">
                  <a:solidFill>
                    <a:schemeClr val="bg1"/>
                  </a:solidFill>
                </a:rPr>
                <a:t>01555804012</a:t>
              </a:r>
              <a:br>
                <a:rPr lang="en-US" sz="2400" dirty="0">
                  <a:solidFill>
                    <a:schemeClr val="bg1"/>
                  </a:solidFill>
                </a:rPr>
              </a:br>
              <a:r>
                <a:rPr lang="en-US" sz="2400" dirty="0">
                  <a:solidFill>
                    <a:schemeClr val="bg1"/>
                  </a:solidFill>
                </a:rPr>
                <a:t>linkedin.com/in/ahmedyassermousa/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9C5AB59-D9B6-C674-A2FE-4B2B6DC3B4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800" y="2697480"/>
              <a:ext cx="2803407" cy="2777742"/>
            </a:xfrm>
            <a:prstGeom prst="rect">
              <a:avLst/>
            </a:prstGeom>
          </p:spPr>
        </p:pic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0974949-048D-61E6-7C51-AD03FEB6A87E}"/>
                </a:ext>
              </a:extLst>
            </p:cNvPr>
            <p:cNvSpPr/>
            <p:nvPr/>
          </p:nvSpPr>
          <p:spPr>
            <a:xfrm>
              <a:off x="473515" y="2529071"/>
              <a:ext cx="3260286" cy="2969011"/>
            </a:xfrm>
            <a:custGeom>
              <a:avLst/>
              <a:gdLst>
                <a:gd name="csX0" fmla="*/ 1630143 w 3260286"/>
                <a:gd name="csY0" fmla="*/ 141493 h 2930502"/>
                <a:gd name="csX1" fmla="*/ 304800 w 3260286"/>
                <a:gd name="csY1" fmla="*/ 1480860 h 2930502"/>
                <a:gd name="csX2" fmla="*/ 1630143 w 3260286"/>
                <a:gd name="csY2" fmla="*/ 2820227 h 2930502"/>
                <a:gd name="csX3" fmla="*/ 2955486 w 3260286"/>
                <a:gd name="csY3" fmla="*/ 1480860 h 2930502"/>
                <a:gd name="csX4" fmla="*/ 1630143 w 3260286"/>
                <a:gd name="csY4" fmla="*/ 141493 h 2930502"/>
                <a:gd name="csX5" fmla="*/ 488427 w 3260286"/>
                <a:gd name="csY5" fmla="*/ 0 h 2930502"/>
                <a:gd name="csX6" fmla="*/ 2771859 w 3260286"/>
                <a:gd name="csY6" fmla="*/ 0 h 2930502"/>
                <a:gd name="csX7" fmla="*/ 3260286 w 3260286"/>
                <a:gd name="csY7" fmla="*/ 488427 h 2930502"/>
                <a:gd name="csX8" fmla="*/ 3260286 w 3260286"/>
                <a:gd name="csY8" fmla="*/ 2442075 h 2930502"/>
                <a:gd name="csX9" fmla="*/ 2771859 w 3260286"/>
                <a:gd name="csY9" fmla="*/ 2930502 h 2930502"/>
                <a:gd name="csX10" fmla="*/ 488427 w 3260286"/>
                <a:gd name="csY10" fmla="*/ 2930502 h 2930502"/>
                <a:gd name="csX11" fmla="*/ 0 w 3260286"/>
                <a:gd name="csY11" fmla="*/ 2442075 h 2930502"/>
                <a:gd name="csX12" fmla="*/ 0 w 3260286"/>
                <a:gd name="csY12" fmla="*/ 488427 h 2930502"/>
                <a:gd name="csX13" fmla="*/ 488427 w 3260286"/>
                <a:gd name="csY13" fmla="*/ 0 h 2930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260286" h="2930502">
                  <a:moveTo>
                    <a:pt x="1630143" y="141493"/>
                  </a:moveTo>
                  <a:cubicBezTo>
                    <a:pt x="898176" y="141493"/>
                    <a:pt x="304800" y="741148"/>
                    <a:pt x="304800" y="1480860"/>
                  </a:cubicBezTo>
                  <a:cubicBezTo>
                    <a:pt x="304800" y="2220572"/>
                    <a:pt x="898176" y="2820227"/>
                    <a:pt x="1630143" y="2820227"/>
                  </a:cubicBezTo>
                  <a:cubicBezTo>
                    <a:pt x="2362110" y="2820227"/>
                    <a:pt x="2955486" y="2220572"/>
                    <a:pt x="2955486" y="1480860"/>
                  </a:cubicBezTo>
                  <a:cubicBezTo>
                    <a:pt x="2955486" y="741148"/>
                    <a:pt x="2362110" y="141493"/>
                    <a:pt x="1630143" y="141493"/>
                  </a:cubicBezTo>
                  <a:close/>
                  <a:moveTo>
                    <a:pt x="488427" y="0"/>
                  </a:moveTo>
                  <a:lnTo>
                    <a:pt x="2771859" y="0"/>
                  </a:lnTo>
                  <a:cubicBezTo>
                    <a:pt x="3041610" y="0"/>
                    <a:pt x="3260286" y="218676"/>
                    <a:pt x="3260286" y="488427"/>
                  </a:cubicBezTo>
                  <a:lnTo>
                    <a:pt x="3260286" y="2442075"/>
                  </a:lnTo>
                  <a:cubicBezTo>
                    <a:pt x="3260286" y="2711826"/>
                    <a:pt x="3041610" y="2930502"/>
                    <a:pt x="2771859" y="2930502"/>
                  </a:cubicBezTo>
                  <a:lnTo>
                    <a:pt x="488427" y="2930502"/>
                  </a:lnTo>
                  <a:cubicBezTo>
                    <a:pt x="218676" y="2930502"/>
                    <a:pt x="0" y="2711826"/>
                    <a:pt x="0" y="2442075"/>
                  </a:cubicBezTo>
                  <a:lnTo>
                    <a:pt x="0" y="488427"/>
                  </a:lnTo>
                  <a:cubicBezTo>
                    <a:pt x="0" y="218676"/>
                    <a:pt x="218676" y="0"/>
                    <a:pt x="488427" y="0"/>
                  </a:cubicBezTo>
                  <a:close/>
                </a:path>
              </a:pathLst>
            </a:custGeom>
            <a:solidFill>
              <a:srgbClr val="5CA3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1C8A07B-2F79-E732-52CB-2B5D6EF01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37" t="27470" r="48890" b="26455"/>
            <a:stretch>
              <a:fillRect/>
            </a:stretch>
          </p:blipFill>
          <p:spPr>
            <a:xfrm>
              <a:off x="533400" y="5638800"/>
              <a:ext cx="182880" cy="211316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7005212-F5DC-2940-80EA-873953063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400" y="6362700"/>
              <a:ext cx="182880" cy="182880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C1D4A452-61B1-517F-73B0-47247C28A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400" y="5981700"/>
              <a:ext cx="182880" cy="182880"/>
            </a:xfrm>
            <a:prstGeom prst="rect">
              <a:avLst/>
            </a:prstGeom>
          </p:spPr>
        </p:pic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FA28A83-4DB4-E852-AEE6-C9220FBB6BA4}"/>
                </a:ext>
              </a:extLst>
            </p:cNvPr>
            <p:cNvSpPr/>
            <p:nvPr/>
          </p:nvSpPr>
          <p:spPr>
            <a:xfrm>
              <a:off x="567916" y="5428965"/>
              <a:ext cx="3149887" cy="171735"/>
            </a:xfrm>
            <a:prstGeom prst="rect">
              <a:avLst/>
            </a:prstGeom>
            <a:solidFill>
              <a:srgbClr val="5CA3B2"/>
            </a:solidFill>
            <a:ln>
              <a:solidFill>
                <a:srgbClr val="5CA3B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611298D-915A-B9DC-413B-000DFBE842E5}"/>
              </a:ext>
            </a:extLst>
          </p:cNvPr>
          <p:cNvGrpSpPr/>
          <p:nvPr/>
        </p:nvGrpSpPr>
        <p:grpSpPr>
          <a:xfrm>
            <a:off x="14359056" y="1282265"/>
            <a:ext cx="3336486" cy="4930499"/>
            <a:chOff x="14359056" y="1282265"/>
            <a:chExt cx="3336486" cy="4930499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D0B19C32-0BAE-D130-66B2-A792C64785EE}"/>
                </a:ext>
              </a:extLst>
            </p:cNvPr>
            <p:cNvSpPr/>
            <p:nvPr/>
          </p:nvSpPr>
          <p:spPr>
            <a:xfrm>
              <a:off x="14359056" y="1282265"/>
              <a:ext cx="3336486" cy="4930499"/>
            </a:xfrm>
            <a:prstGeom prst="roundRect">
              <a:avLst/>
            </a:prstGeom>
            <a:solidFill>
              <a:srgbClr val="5CA3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69BACF8E-2326-829E-E628-ADA7CD754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37" t="27470" r="48890" b="26455"/>
            <a:stretch>
              <a:fillRect/>
            </a:stretch>
          </p:blipFill>
          <p:spPr>
            <a:xfrm>
              <a:off x="14435256" y="4505884"/>
              <a:ext cx="182880" cy="211316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4812AA9-73F8-13A3-BF5B-9F1A27660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35256" y="5233578"/>
              <a:ext cx="182880" cy="182880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384A884F-6DF5-2431-5592-2F0FD0A0F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42379" y="4883167"/>
              <a:ext cx="182880" cy="18288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F4A6233-FC0F-D17A-8791-5A1D369B4AD2}"/>
                </a:ext>
              </a:extLst>
            </p:cNvPr>
            <p:cNvSpPr/>
            <p:nvPr/>
          </p:nvSpPr>
          <p:spPr>
            <a:xfrm>
              <a:off x="14657476" y="4354105"/>
              <a:ext cx="2864240" cy="1514391"/>
            </a:xfrm>
            <a:prstGeom prst="rect">
              <a:avLst/>
            </a:prstGeom>
            <a:solidFill>
              <a:srgbClr val="5CA3B2"/>
            </a:solidFill>
            <a:ln>
              <a:solidFill>
                <a:srgbClr val="5CA3B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dirty="0">
                  <a:solidFill>
                    <a:schemeClr val="bg1"/>
                  </a:solidFill>
                </a:rPr>
                <a:t>Mohamed  El-Nady</a:t>
              </a:r>
              <a:br>
                <a:rPr lang="en-US" sz="2000" dirty="0">
                  <a:solidFill>
                    <a:schemeClr val="bg1"/>
                  </a:solidFill>
                </a:rPr>
              </a:br>
              <a:r>
                <a:rPr lang="en-US" sz="2000" dirty="0">
                  <a:solidFill>
                    <a:schemeClr val="bg1"/>
                  </a:solidFill>
                </a:rPr>
                <a:t>01152455483</a:t>
              </a:r>
              <a:br>
                <a:rPr lang="en-US" sz="2000" dirty="0">
                  <a:solidFill>
                    <a:schemeClr val="bg1"/>
                  </a:solidFill>
                </a:rPr>
              </a:br>
              <a:r>
                <a:rPr lang="en-US" sz="2000" dirty="0"/>
                <a:t>www.linkedin.com/in/mohamed--el-nady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AC0FEC4-11E7-3170-74D9-CE4FD1B47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716" b="17108"/>
            <a:stretch>
              <a:fillRect/>
            </a:stretch>
          </p:blipFill>
          <p:spPr>
            <a:xfrm>
              <a:off x="14565901" y="1451868"/>
              <a:ext cx="2888706" cy="2817356"/>
            </a:xfrm>
            <a:prstGeom prst="rect">
              <a:avLst/>
            </a:prstGeom>
          </p:spPr>
        </p:pic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99DAAA4-8C27-B4CA-8E03-E1AC86D0CE6C}"/>
                </a:ext>
              </a:extLst>
            </p:cNvPr>
            <p:cNvSpPr/>
            <p:nvPr/>
          </p:nvSpPr>
          <p:spPr>
            <a:xfrm>
              <a:off x="14422921" y="1376413"/>
              <a:ext cx="3260286" cy="2969011"/>
            </a:xfrm>
            <a:custGeom>
              <a:avLst/>
              <a:gdLst>
                <a:gd name="csX0" fmla="*/ 1630143 w 3260286"/>
                <a:gd name="csY0" fmla="*/ 141493 h 2930502"/>
                <a:gd name="csX1" fmla="*/ 304800 w 3260286"/>
                <a:gd name="csY1" fmla="*/ 1480860 h 2930502"/>
                <a:gd name="csX2" fmla="*/ 1630143 w 3260286"/>
                <a:gd name="csY2" fmla="*/ 2820227 h 2930502"/>
                <a:gd name="csX3" fmla="*/ 2955486 w 3260286"/>
                <a:gd name="csY3" fmla="*/ 1480860 h 2930502"/>
                <a:gd name="csX4" fmla="*/ 1630143 w 3260286"/>
                <a:gd name="csY4" fmla="*/ 141493 h 2930502"/>
                <a:gd name="csX5" fmla="*/ 488427 w 3260286"/>
                <a:gd name="csY5" fmla="*/ 0 h 2930502"/>
                <a:gd name="csX6" fmla="*/ 2771859 w 3260286"/>
                <a:gd name="csY6" fmla="*/ 0 h 2930502"/>
                <a:gd name="csX7" fmla="*/ 3260286 w 3260286"/>
                <a:gd name="csY7" fmla="*/ 488427 h 2930502"/>
                <a:gd name="csX8" fmla="*/ 3260286 w 3260286"/>
                <a:gd name="csY8" fmla="*/ 2442075 h 2930502"/>
                <a:gd name="csX9" fmla="*/ 2771859 w 3260286"/>
                <a:gd name="csY9" fmla="*/ 2930502 h 2930502"/>
                <a:gd name="csX10" fmla="*/ 488427 w 3260286"/>
                <a:gd name="csY10" fmla="*/ 2930502 h 2930502"/>
                <a:gd name="csX11" fmla="*/ 0 w 3260286"/>
                <a:gd name="csY11" fmla="*/ 2442075 h 2930502"/>
                <a:gd name="csX12" fmla="*/ 0 w 3260286"/>
                <a:gd name="csY12" fmla="*/ 488427 h 2930502"/>
                <a:gd name="csX13" fmla="*/ 488427 w 3260286"/>
                <a:gd name="csY13" fmla="*/ 0 h 2930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260286" h="2930502">
                  <a:moveTo>
                    <a:pt x="1630143" y="141493"/>
                  </a:moveTo>
                  <a:cubicBezTo>
                    <a:pt x="898176" y="141493"/>
                    <a:pt x="304800" y="741148"/>
                    <a:pt x="304800" y="1480860"/>
                  </a:cubicBezTo>
                  <a:cubicBezTo>
                    <a:pt x="304800" y="2220572"/>
                    <a:pt x="898176" y="2820227"/>
                    <a:pt x="1630143" y="2820227"/>
                  </a:cubicBezTo>
                  <a:cubicBezTo>
                    <a:pt x="2362110" y="2820227"/>
                    <a:pt x="2955486" y="2220572"/>
                    <a:pt x="2955486" y="1480860"/>
                  </a:cubicBezTo>
                  <a:cubicBezTo>
                    <a:pt x="2955486" y="741148"/>
                    <a:pt x="2362110" y="141493"/>
                    <a:pt x="1630143" y="141493"/>
                  </a:cubicBezTo>
                  <a:close/>
                  <a:moveTo>
                    <a:pt x="488427" y="0"/>
                  </a:moveTo>
                  <a:lnTo>
                    <a:pt x="2771859" y="0"/>
                  </a:lnTo>
                  <a:cubicBezTo>
                    <a:pt x="3041610" y="0"/>
                    <a:pt x="3260286" y="218676"/>
                    <a:pt x="3260286" y="488427"/>
                  </a:cubicBezTo>
                  <a:lnTo>
                    <a:pt x="3260286" y="2442075"/>
                  </a:lnTo>
                  <a:cubicBezTo>
                    <a:pt x="3260286" y="2711826"/>
                    <a:pt x="3041610" y="2930502"/>
                    <a:pt x="2771859" y="2930502"/>
                  </a:cubicBezTo>
                  <a:lnTo>
                    <a:pt x="488427" y="2930502"/>
                  </a:lnTo>
                  <a:cubicBezTo>
                    <a:pt x="218676" y="2930502"/>
                    <a:pt x="0" y="2711826"/>
                    <a:pt x="0" y="2442075"/>
                  </a:cubicBezTo>
                  <a:lnTo>
                    <a:pt x="0" y="488427"/>
                  </a:lnTo>
                  <a:cubicBezTo>
                    <a:pt x="0" y="218676"/>
                    <a:pt x="218676" y="0"/>
                    <a:pt x="488427" y="0"/>
                  </a:cubicBezTo>
                  <a:close/>
                </a:path>
              </a:pathLst>
            </a:custGeom>
            <a:solidFill>
              <a:srgbClr val="5CA3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AD8580F-4BF5-B324-1F58-089EE99BA69A}"/>
              </a:ext>
            </a:extLst>
          </p:cNvPr>
          <p:cNvSpPr/>
          <p:nvPr/>
        </p:nvSpPr>
        <p:spPr>
          <a:xfrm>
            <a:off x="7477703" y="1381856"/>
            <a:ext cx="3336486" cy="4930499"/>
          </a:xfrm>
          <a:prstGeom prst="roundRect">
            <a:avLst/>
          </a:prstGeom>
          <a:solidFill>
            <a:srgbClr val="5CA3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879FDC-5B7E-5554-600B-EE97761AC684}"/>
              </a:ext>
            </a:extLst>
          </p:cNvPr>
          <p:cNvSpPr/>
          <p:nvPr/>
        </p:nvSpPr>
        <p:spPr>
          <a:xfrm>
            <a:off x="7576307" y="4160578"/>
            <a:ext cx="3094674" cy="1514391"/>
          </a:xfrm>
          <a:prstGeom prst="rect">
            <a:avLst/>
          </a:prstGeom>
          <a:solidFill>
            <a:srgbClr val="5CA3B2"/>
          </a:solidFill>
          <a:ln>
            <a:solidFill>
              <a:srgbClr val="5CA3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Supervised by</a:t>
            </a:r>
            <a:endParaRPr lang="ar-EG" sz="2800" b="1" dirty="0"/>
          </a:p>
          <a:p>
            <a:pPr algn="ctr"/>
            <a:r>
              <a:rPr lang="en-US" sz="2800" b="1" dirty="0"/>
              <a:t>Dr. Amal Mahmoud</a:t>
            </a:r>
          </a:p>
        </p:txBody>
      </p:sp>
      <p:sp>
        <p:nvSpPr>
          <p:cNvPr id="61" name="Freeform 10">
            <a:extLst>
              <a:ext uri="{FF2B5EF4-FFF2-40B4-BE49-F238E27FC236}">
                <a16:creationId xmlns:a16="http://schemas.microsoft.com/office/drawing/2014/main" id="{70AAE61F-54CF-E552-15AF-BE740B4EDD59}"/>
              </a:ext>
            </a:extLst>
          </p:cNvPr>
          <p:cNvSpPr/>
          <p:nvPr/>
        </p:nvSpPr>
        <p:spPr>
          <a:xfrm>
            <a:off x="7696984" y="1586422"/>
            <a:ext cx="2878335" cy="2878335"/>
          </a:xfrm>
          <a:custGeom>
            <a:avLst/>
            <a:gdLst>
              <a:gd name="connsiteX0" fmla="*/ 0 w 2878335"/>
              <a:gd name="connsiteY0" fmla="*/ 1439168 h 2878335"/>
              <a:gd name="connsiteX1" fmla="*/ 1439168 w 2878335"/>
              <a:gd name="connsiteY1" fmla="*/ 0 h 2878335"/>
              <a:gd name="connsiteX2" fmla="*/ 2878336 w 2878335"/>
              <a:gd name="connsiteY2" fmla="*/ 1439168 h 2878335"/>
              <a:gd name="connsiteX3" fmla="*/ 1439168 w 2878335"/>
              <a:gd name="connsiteY3" fmla="*/ 2878336 h 2878335"/>
              <a:gd name="connsiteX4" fmla="*/ 0 w 2878335"/>
              <a:gd name="connsiteY4" fmla="*/ 1439168 h 287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78335" h="2878335">
                <a:moveTo>
                  <a:pt x="0" y="1439168"/>
                </a:moveTo>
                <a:cubicBezTo>
                  <a:pt x="0" y="644337"/>
                  <a:pt x="644337" y="0"/>
                  <a:pt x="1439168" y="0"/>
                </a:cubicBezTo>
                <a:cubicBezTo>
                  <a:pt x="2233999" y="0"/>
                  <a:pt x="2878336" y="644337"/>
                  <a:pt x="2878336" y="1439168"/>
                </a:cubicBezTo>
                <a:cubicBezTo>
                  <a:pt x="2878336" y="2233999"/>
                  <a:pt x="2233999" y="2878336"/>
                  <a:pt x="1439168" y="2878336"/>
                </a:cubicBezTo>
                <a:cubicBezTo>
                  <a:pt x="644337" y="2878336"/>
                  <a:pt x="0" y="2233999"/>
                  <a:pt x="0" y="1439168"/>
                </a:cubicBezTo>
                <a:close/>
              </a:path>
            </a:pathLst>
          </a:custGeom>
          <a:blipFill>
            <a:blip r:embed="rId9"/>
            <a:stretch>
              <a:fillRect/>
            </a:stretch>
          </a:blip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04072" tIns="504072" rIns="504072" bIns="504072" numCol="1" spcCol="1270" anchor="ctr" anchorCtr="0">
            <a:noAutofit/>
          </a:bodyPr>
          <a:lstStyle/>
          <a:p>
            <a:pPr lvl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6500" kern="120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8DF876A-6921-57E3-E1F0-BFCD012BF257}"/>
              </a:ext>
            </a:extLst>
          </p:cNvPr>
          <p:cNvSpPr/>
          <p:nvPr/>
        </p:nvSpPr>
        <p:spPr>
          <a:xfrm>
            <a:off x="7494018" y="1495746"/>
            <a:ext cx="3260286" cy="2969011"/>
          </a:xfrm>
          <a:custGeom>
            <a:avLst/>
            <a:gdLst>
              <a:gd name="csX0" fmla="*/ 1630143 w 3260286"/>
              <a:gd name="csY0" fmla="*/ 141493 h 2930502"/>
              <a:gd name="csX1" fmla="*/ 304800 w 3260286"/>
              <a:gd name="csY1" fmla="*/ 1480860 h 2930502"/>
              <a:gd name="csX2" fmla="*/ 1630143 w 3260286"/>
              <a:gd name="csY2" fmla="*/ 2820227 h 2930502"/>
              <a:gd name="csX3" fmla="*/ 2955486 w 3260286"/>
              <a:gd name="csY3" fmla="*/ 1480860 h 2930502"/>
              <a:gd name="csX4" fmla="*/ 1630143 w 3260286"/>
              <a:gd name="csY4" fmla="*/ 141493 h 2930502"/>
              <a:gd name="csX5" fmla="*/ 488427 w 3260286"/>
              <a:gd name="csY5" fmla="*/ 0 h 2930502"/>
              <a:gd name="csX6" fmla="*/ 2771859 w 3260286"/>
              <a:gd name="csY6" fmla="*/ 0 h 2930502"/>
              <a:gd name="csX7" fmla="*/ 3260286 w 3260286"/>
              <a:gd name="csY7" fmla="*/ 488427 h 2930502"/>
              <a:gd name="csX8" fmla="*/ 3260286 w 3260286"/>
              <a:gd name="csY8" fmla="*/ 2442075 h 2930502"/>
              <a:gd name="csX9" fmla="*/ 2771859 w 3260286"/>
              <a:gd name="csY9" fmla="*/ 2930502 h 2930502"/>
              <a:gd name="csX10" fmla="*/ 488427 w 3260286"/>
              <a:gd name="csY10" fmla="*/ 2930502 h 2930502"/>
              <a:gd name="csX11" fmla="*/ 0 w 3260286"/>
              <a:gd name="csY11" fmla="*/ 2442075 h 2930502"/>
              <a:gd name="csX12" fmla="*/ 0 w 3260286"/>
              <a:gd name="csY12" fmla="*/ 488427 h 2930502"/>
              <a:gd name="csX13" fmla="*/ 488427 w 3260286"/>
              <a:gd name="csY13" fmla="*/ 0 h 2930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3260286" h="2930502">
                <a:moveTo>
                  <a:pt x="1630143" y="141493"/>
                </a:moveTo>
                <a:cubicBezTo>
                  <a:pt x="898176" y="141493"/>
                  <a:pt x="304800" y="741148"/>
                  <a:pt x="304800" y="1480860"/>
                </a:cubicBezTo>
                <a:cubicBezTo>
                  <a:pt x="304800" y="2220572"/>
                  <a:pt x="898176" y="2820227"/>
                  <a:pt x="1630143" y="2820227"/>
                </a:cubicBezTo>
                <a:cubicBezTo>
                  <a:pt x="2362110" y="2820227"/>
                  <a:pt x="2955486" y="2220572"/>
                  <a:pt x="2955486" y="1480860"/>
                </a:cubicBezTo>
                <a:cubicBezTo>
                  <a:pt x="2955486" y="741148"/>
                  <a:pt x="2362110" y="141493"/>
                  <a:pt x="1630143" y="141493"/>
                </a:cubicBezTo>
                <a:close/>
                <a:moveTo>
                  <a:pt x="488427" y="0"/>
                </a:moveTo>
                <a:lnTo>
                  <a:pt x="2771859" y="0"/>
                </a:lnTo>
                <a:cubicBezTo>
                  <a:pt x="3041610" y="0"/>
                  <a:pt x="3260286" y="218676"/>
                  <a:pt x="3260286" y="488427"/>
                </a:cubicBezTo>
                <a:lnTo>
                  <a:pt x="3260286" y="2442075"/>
                </a:lnTo>
                <a:cubicBezTo>
                  <a:pt x="3260286" y="2711826"/>
                  <a:pt x="3041610" y="2930502"/>
                  <a:pt x="2771859" y="2930502"/>
                </a:cubicBezTo>
                <a:lnTo>
                  <a:pt x="488427" y="2930502"/>
                </a:lnTo>
                <a:cubicBezTo>
                  <a:pt x="218676" y="2930502"/>
                  <a:pt x="0" y="2711826"/>
                  <a:pt x="0" y="2442075"/>
                </a:cubicBezTo>
                <a:lnTo>
                  <a:pt x="0" y="488427"/>
                </a:lnTo>
                <a:cubicBezTo>
                  <a:pt x="0" y="218676"/>
                  <a:pt x="218676" y="0"/>
                  <a:pt x="488427" y="0"/>
                </a:cubicBezTo>
                <a:close/>
              </a:path>
            </a:pathLst>
          </a:cu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28700" y="8255873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1917719-FFDB-597E-CCB6-37CA6191EDDB}"/>
              </a:ext>
            </a:extLst>
          </p:cNvPr>
          <p:cNvGrpSpPr/>
          <p:nvPr/>
        </p:nvGrpSpPr>
        <p:grpSpPr>
          <a:xfrm>
            <a:off x="10867358" y="4583352"/>
            <a:ext cx="3336486" cy="4930499"/>
            <a:chOff x="10867358" y="4583352"/>
            <a:chExt cx="3336486" cy="4930499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907A705B-7899-4539-3D2B-6FB96E634765}"/>
                </a:ext>
              </a:extLst>
            </p:cNvPr>
            <p:cNvSpPr/>
            <p:nvPr/>
          </p:nvSpPr>
          <p:spPr>
            <a:xfrm>
              <a:off x="10867358" y="4583352"/>
              <a:ext cx="3336486" cy="4930499"/>
            </a:xfrm>
            <a:prstGeom prst="roundRect">
              <a:avLst/>
            </a:prstGeom>
            <a:solidFill>
              <a:srgbClr val="5CA3B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5725C4F-2C61-7DCB-30D5-8CDA41627463}"/>
                </a:ext>
              </a:extLst>
            </p:cNvPr>
            <p:cNvSpPr/>
            <p:nvPr/>
          </p:nvSpPr>
          <p:spPr>
            <a:xfrm>
              <a:off x="11022244" y="7322891"/>
              <a:ext cx="2864240" cy="1514391"/>
            </a:xfrm>
            <a:prstGeom prst="rect">
              <a:avLst/>
            </a:prstGeom>
            <a:solidFill>
              <a:srgbClr val="5CA3B2"/>
            </a:solidFill>
            <a:ln>
              <a:solidFill>
                <a:srgbClr val="5CA3B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Mohamed Adel</a:t>
              </a:r>
              <a:endParaRPr lang="en-US" sz="2000" dirty="0"/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50598B91-B1D4-4CAE-35C7-2972BADB4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734" b="14513"/>
            <a:stretch>
              <a:fillRect/>
            </a:stretch>
          </p:blipFill>
          <p:spPr>
            <a:xfrm>
              <a:off x="11112609" y="4806973"/>
              <a:ext cx="2800815" cy="2642192"/>
            </a:xfrm>
            <a:prstGeom prst="rect">
              <a:avLst/>
            </a:prstGeom>
          </p:spPr>
        </p:pic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E752A33-BF05-EA0F-3CB9-1E4CC4E0917D}"/>
                </a:ext>
              </a:extLst>
            </p:cNvPr>
            <p:cNvSpPr/>
            <p:nvPr/>
          </p:nvSpPr>
          <p:spPr>
            <a:xfrm>
              <a:off x="10883673" y="4697242"/>
              <a:ext cx="3260286" cy="2969011"/>
            </a:xfrm>
            <a:custGeom>
              <a:avLst/>
              <a:gdLst>
                <a:gd name="csX0" fmla="*/ 1630143 w 3260286"/>
                <a:gd name="csY0" fmla="*/ 141493 h 2930502"/>
                <a:gd name="csX1" fmla="*/ 304800 w 3260286"/>
                <a:gd name="csY1" fmla="*/ 1480860 h 2930502"/>
                <a:gd name="csX2" fmla="*/ 1630143 w 3260286"/>
                <a:gd name="csY2" fmla="*/ 2820227 h 2930502"/>
                <a:gd name="csX3" fmla="*/ 2955486 w 3260286"/>
                <a:gd name="csY3" fmla="*/ 1480860 h 2930502"/>
                <a:gd name="csX4" fmla="*/ 1630143 w 3260286"/>
                <a:gd name="csY4" fmla="*/ 141493 h 2930502"/>
                <a:gd name="csX5" fmla="*/ 488427 w 3260286"/>
                <a:gd name="csY5" fmla="*/ 0 h 2930502"/>
                <a:gd name="csX6" fmla="*/ 2771859 w 3260286"/>
                <a:gd name="csY6" fmla="*/ 0 h 2930502"/>
                <a:gd name="csX7" fmla="*/ 3260286 w 3260286"/>
                <a:gd name="csY7" fmla="*/ 488427 h 2930502"/>
                <a:gd name="csX8" fmla="*/ 3260286 w 3260286"/>
                <a:gd name="csY8" fmla="*/ 2442075 h 2930502"/>
                <a:gd name="csX9" fmla="*/ 2771859 w 3260286"/>
                <a:gd name="csY9" fmla="*/ 2930502 h 2930502"/>
                <a:gd name="csX10" fmla="*/ 488427 w 3260286"/>
                <a:gd name="csY10" fmla="*/ 2930502 h 2930502"/>
                <a:gd name="csX11" fmla="*/ 0 w 3260286"/>
                <a:gd name="csY11" fmla="*/ 2442075 h 2930502"/>
                <a:gd name="csX12" fmla="*/ 0 w 3260286"/>
                <a:gd name="csY12" fmla="*/ 488427 h 2930502"/>
                <a:gd name="csX13" fmla="*/ 488427 w 3260286"/>
                <a:gd name="csY13" fmla="*/ 0 h 2930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260286" h="2930502">
                  <a:moveTo>
                    <a:pt x="1630143" y="141493"/>
                  </a:moveTo>
                  <a:cubicBezTo>
                    <a:pt x="898176" y="141493"/>
                    <a:pt x="304800" y="741148"/>
                    <a:pt x="304800" y="1480860"/>
                  </a:cubicBezTo>
                  <a:cubicBezTo>
                    <a:pt x="304800" y="2220572"/>
                    <a:pt x="898176" y="2820227"/>
                    <a:pt x="1630143" y="2820227"/>
                  </a:cubicBezTo>
                  <a:cubicBezTo>
                    <a:pt x="2362110" y="2820227"/>
                    <a:pt x="2955486" y="2220572"/>
                    <a:pt x="2955486" y="1480860"/>
                  </a:cubicBezTo>
                  <a:cubicBezTo>
                    <a:pt x="2955486" y="741148"/>
                    <a:pt x="2362110" y="141493"/>
                    <a:pt x="1630143" y="141493"/>
                  </a:cubicBezTo>
                  <a:close/>
                  <a:moveTo>
                    <a:pt x="488427" y="0"/>
                  </a:moveTo>
                  <a:lnTo>
                    <a:pt x="2771859" y="0"/>
                  </a:lnTo>
                  <a:cubicBezTo>
                    <a:pt x="3041610" y="0"/>
                    <a:pt x="3260286" y="218676"/>
                    <a:pt x="3260286" y="488427"/>
                  </a:cubicBezTo>
                  <a:lnTo>
                    <a:pt x="3260286" y="2442075"/>
                  </a:lnTo>
                  <a:cubicBezTo>
                    <a:pt x="3260286" y="2711826"/>
                    <a:pt x="3041610" y="2930502"/>
                    <a:pt x="2771859" y="2930502"/>
                  </a:cubicBezTo>
                  <a:lnTo>
                    <a:pt x="488427" y="2930502"/>
                  </a:lnTo>
                  <a:cubicBezTo>
                    <a:pt x="218676" y="2930502"/>
                    <a:pt x="0" y="2711826"/>
                    <a:pt x="0" y="2442075"/>
                  </a:cubicBezTo>
                  <a:lnTo>
                    <a:pt x="0" y="488427"/>
                  </a:lnTo>
                  <a:cubicBezTo>
                    <a:pt x="0" y="218676"/>
                    <a:pt x="218676" y="0"/>
                    <a:pt x="488427" y="0"/>
                  </a:cubicBezTo>
                  <a:close/>
                </a:path>
              </a:pathLst>
            </a:custGeom>
            <a:solidFill>
              <a:srgbClr val="5CA3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326A100B-AC78-DCC8-95C7-37DD784FC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237" t="27470" r="48890" b="26455"/>
            <a:stretch>
              <a:fillRect/>
            </a:stretch>
          </p:blipFill>
          <p:spPr>
            <a:xfrm>
              <a:off x="10943558" y="7806971"/>
              <a:ext cx="182880" cy="211316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4721A076-3598-707D-7F0C-CC6930260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43558" y="8568971"/>
              <a:ext cx="182880" cy="182880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4AAC98CA-24A9-DAF2-6C6E-284BAFEC3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43558" y="8211165"/>
              <a:ext cx="182880" cy="1828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124700" y="478762"/>
            <a:ext cx="4000500" cy="91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</a:pPr>
            <a:r>
              <a:rPr lang="en-US" sz="6999" b="1" u="none" strike="noStrike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07B8CF2-C2D7-82A9-92AB-595F9A8DA620}"/>
              </a:ext>
            </a:extLst>
          </p:cNvPr>
          <p:cNvSpPr/>
          <p:nvPr/>
        </p:nvSpPr>
        <p:spPr>
          <a:xfrm>
            <a:off x="1600200" y="2410562"/>
            <a:ext cx="7132320" cy="1371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Introduction To Data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CF868AC-BDB2-FC39-9A13-345D0B97296C}"/>
              </a:ext>
            </a:extLst>
          </p:cNvPr>
          <p:cNvSpPr/>
          <p:nvPr/>
        </p:nvSpPr>
        <p:spPr>
          <a:xfrm>
            <a:off x="1600200" y="4435541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Data Cleaning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85E3B6A-D4F1-7DF1-D57B-F3466840DA00}"/>
              </a:ext>
            </a:extLst>
          </p:cNvPr>
          <p:cNvSpPr/>
          <p:nvPr/>
        </p:nvSpPr>
        <p:spPr>
          <a:xfrm>
            <a:off x="1600200" y="6515100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Data Modeling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34571FC-2944-5EBC-20A5-D9AAD3ADB832}"/>
              </a:ext>
            </a:extLst>
          </p:cNvPr>
          <p:cNvSpPr/>
          <p:nvPr/>
        </p:nvSpPr>
        <p:spPr>
          <a:xfrm>
            <a:off x="9738359" y="4447976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Dashboard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ED94C3B-DBB7-6D3C-E4D4-3B5D2F6C5687}"/>
              </a:ext>
            </a:extLst>
          </p:cNvPr>
          <p:cNvCxnSpPr>
            <a:cxnSpLocks/>
          </p:cNvCxnSpPr>
          <p:nvPr/>
        </p:nvCxnSpPr>
        <p:spPr>
          <a:xfrm>
            <a:off x="772341" y="3096362"/>
            <a:ext cx="0" cy="410453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D7F2657-76A7-1005-8F3C-DB0517A940CD}"/>
              </a:ext>
            </a:extLst>
          </p:cNvPr>
          <p:cNvCxnSpPr>
            <a:cxnSpLocks/>
          </p:cNvCxnSpPr>
          <p:nvPr/>
        </p:nvCxnSpPr>
        <p:spPr>
          <a:xfrm>
            <a:off x="16805160" y="5121341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8FBBD19-7200-7CBA-2E0A-F63C3B4ADCF1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756285" y="7200900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9EA2E88-25EB-99E1-C048-E6623E24584F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756285" y="5121341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A68C940-7FE7-E687-E4D5-DC14FBDAC466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756285" y="3096362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C8E472-3BFC-874C-8124-01C3635B7455}"/>
              </a:ext>
            </a:extLst>
          </p:cNvPr>
          <p:cNvSpPr/>
          <p:nvPr/>
        </p:nvSpPr>
        <p:spPr>
          <a:xfrm>
            <a:off x="9738359" y="6515100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Insights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FCFA3A8-1A3A-9D06-DFDF-8DB42A2E5EFB}"/>
              </a:ext>
            </a:extLst>
          </p:cNvPr>
          <p:cNvSpPr/>
          <p:nvPr/>
        </p:nvSpPr>
        <p:spPr>
          <a:xfrm>
            <a:off x="9738359" y="2504427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KPIs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353DA8-B000-1A2E-087F-839F6AF615AC}"/>
              </a:ext>
            </a:extLst>
          </p:cNvPr>
          <p:cNvCxnSpPr>
            <a:cxnSpLocks/>
          </p:cNvCxnSpPr>
          <p:nvPr/>
        </p:nvCxnSpPr>
        <p:spPr>
          <a:xfrm>
            <a:off x="16805160" y="3105433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A450F8-2953-21E4-151A-B7A60852AC8E}"/>
              </a:ext>
            </a:extLst>
          </p:cNvPr>
          <p:cNvCxnSpPr>
            <a:cxnSpLocks/>
          </p:cNvCxnSpPr>
          <p:nvPr/>
        </p:nvCxnSpPr>
        <p:spPr>
          <a:xfrm>
            <a:off x="16805160" y="7200900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B3D98B2-0547-AE0B-3365-A447721D7555}"/>
              </a:ext>
            </a:extLst>
          </p:cNvPr>
          <p:cNvCxnSpPr>
            <a:cxnSpLocks/>
          </p:cNvCxnSpPr>
          <p:nvPr/>
        </p:nvCxnSpPr>
        <p:spPr>
          <a:xfrm>
            <a:off x="17668309" y="3096362"/>
            <a:ext cx="0" cy="410453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352213" y="558950"/>
            <a:ext cx="11583573" cy="9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 To 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2ACE11-CCAE-B302-922D-9BECDB66B25E}"/>
              </a:ext>
            </a:extLst>
          </p:cNvPr>
          <p:cNvSpPr txBox="1"/>
          <p:nvPr/>
        </p:nvSpPr>
        <p:spPr>
          <a:xfrm>
            <a:off x="1219199" y="1928991"/>
            <a:ext cx="1584960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Definition: 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Represents real industrial machine operation data</a:t>
            </a:r>
          </a:p>
          <a:p>
            <a:r>
              <a:rPr lang="en-US" sz="4400" b="1" dirty="0">
                <a:solidFill>
                  <a:schemeClr val="bg1"/>
                </a:solidFill>
              </a:rPr>
              <a:t>Data structure: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Time-based operational records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Multiple machines working simultaneously</a:t>
            </a:r>
          </a:p>
          <a:p>
            <a:r>
              <a:rPr lang="en-US" sz="4400" b="1" dirty="0">
                <a:solidFill>
                  <a:schemeClr val="bg1"/>
                </a:solidFill>
              </a:rPr>
              <a:t>Analysis Objective: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Measure operational efficiency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Calculate manufacturing </a:t>
            </a:r>
            <a:r>
              <a:rPr lang="en-US" sz="4400" b="1" dirty="0">
                <a:solidFill>
                  <a:schemeClr val="bg1"/>
                </a:solidFill>
              </a:rPr>
              <a:t>KPIs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Build a management-level </a:t>
            </a:r>
            <a:r>
              <a:rPr lang="en-US" sz="4400" b="1" dirty="0">
                <a:solidFill>
                  <a:schemeClr val="bg1"/>
                </a:solidFill>
              </a:rPr>
              <a:t>dashboard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Help In </a:t>
            </a:r>
            <a:r>
              <a:rPr lang="en-US" sz="4400" b="1" dirty="0">
                <a:solidFill>
                  <a:schemeClr val="bg1"/>
                </a:solidFill>
              </a:rPr>
              <a:t>Maintenance</a:t>
            </a:r>
            <a:r>
              <a:rPr lang="en-US" sz="4400" dirty="0">
                <a:solidFill>
                  <a:schemeClr val="bg1"/>
                </a:solidFill>
              </a:rPr>
              <a:t> ( Preventive – predictive 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BABCB-B7C3-2B8A-9E5A-FCD195F6C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17CC440-039E-F3A9-0BFC-40872CFA261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B23B18F-DD0F-3EBE-71A7-F1B21CD1F2C9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650B849-ABB3-0840-0414-D02562D81A4A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CB0DC7E-7F28-5F4A-4502-7C3BB9AA2FC0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762EF05-071C-11C8-E1B1-71AEBE8DADAD}"/>
              </a:ext>
            </a:extLst>
          </p:cNvPr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6564D85-57F7-2DD3-D888-BA5D87059418}"/>
              </a:ext>
            </a:extLst>
          </p:cNvPr>
          <p:cNvSpPr txBox="1"/>
          <p:nvPr/>
        </p:nvSpPr>
        <p:spPr>
          <a:xfrm>
            <a:off x="3352213" y="558950"/>
            <a:ext cx="11583573" cy="9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 To Data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B95017-549C-22D3-E9A2-483AA6786E8B}"/>
              </a:ext>
            </a:extLst>
          </p:cNvPr>
          <p:cNvSpPr txBox="1"/>
          <p:nvPr/>
        </p:nvSpPr>
        <p:spPr>
          <a:xfrm>
            <a:off x="723898" y="2003913"/>
            <a:ext cx="16840201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Maintenance Type:</a:t>
            </a:r>
          </a:p>
          <a:p>
            <a:pPr fontAlgn="t">
              <a:buNone/>
            </a:pPr>
            <a:r>
              <a:rPr lang="en-US" sz="4400" b="1" dirty="0">
                <a:solidFill>
                  <a:schemeClr val="bg1"/>
                </a:solidFill>
              </a:rPr>
              <a:t>Preventive Maintenance</a:t>
            </a:r>
          </a:p>
          <a:p>
            <a:pPr lvl="2" fontAlgn="t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 Scheduled maintenance based on time or usage</a:t>
            </a:r>
          </a:p>
          <a:p>
            <a:pPr lvl="2" fontAlgn="t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 Aims to reduce unexpected failures and unplanned downtime</a:t>
            </a:r>
          </a:p>
          <a:p>
            <a:pPr fontAlgn="t">
              <a:buNone/>
            </a:pPr>
            <a:r>
              <a:rPr lang="en-US" sz="4400" b="1" dirty="0">
                <a:solidFill>
                  <a:schemeClr val="bg1"/>
                </a:solidFill>
              </a:rPr>
              <a:t>Predictive Maintenance</a:t>
            </a:r>
          </a:p>
          <a:p>
            <a:pPr lvl="2" fontAlgn="t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 Data-driven maintenance based on machine condition</a:t>
            </a:r>
          </a:p>
          <a:p>
            <a:pPr lvl="2" fontAlgn="t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 Predicts failures before they occur to optimize cost and downtime</a:t>
            </a:r>
          </a:p>
          <a:p>
            <a:pPr fontAlgn="t">
              <a:buNone/>
            </a:pPr>
            <a:r>
              <a:rPr lang="en-US" sz="4400" b="1" dirty="0">
                <a:solidFill>
                  <a:schemeClr val="bg1"/>
                </a:solidFill>
              </a:rPr>
              <a:t>Corrective Maintenance</a:t>
            </a:r>
          </a:p>
          <a:p>
            <a:pPr lvl="2" fontAlgn="t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 Performed </a:t>
            </a:r>
            <a:r>
              <a:rPr lang="en-US" sz="4400" b="1" dirty="0">
                <a:solidFill>
                  <a:schemeClr val="bg1"/>
                </a:solidFill>
              </a:rPr>
              <a:t>after a failure occurs</a:t>
            </a:r>
            <a:endParaRPr lang="en-US" sz="4400" dirty="0">
              <a:solidFill>
                <a:schemeClr val="bg1"/>
              </a:solidFill>
            </a:endParaRPr>
          </a:p>
          <a:p>
            <a:pPr lvl="2" fontAlgn="t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 Focused on restoring equipment to normal operation</a:t>
            </a:r>
          </a:p>
        </p:txBody>
      </p:sp>
    </p:spTree>
    <p:extLst>
      <p:ext uri="{BB962C8B-B14F-4D97-AF65-F5344CB8AC3E}">
        <p14:creationId xmlns:p14="http://schemas.microsoft.com/office/powerpoint/2010/main" val="1712287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AFDA3-90C9-FAA9-61EF-E60331CD0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2395E65-B76F-2D37-5C01-82B1CF56239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9DF8D0F-4316-0C2E-2DD3-96030F5DDF6D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24ADDFB-A254-1B28-6FE1-BF762CD6A7BA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2D458A5-6B5B-E2D0-8217-1A7D240A76AA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D40DC53F-35EF-0E92-7CEA-3948A3B63F5C}"/>
              </a:ext>
            </a:extLst>
          </p:cNvPr>
          <p:cNvSpPr txBox="1"/>
          <p:nvPr/>
        </p:nvSpPr>
        <p:spPr>
          <a:xfrm>
            <a:off x="7124700" y="478762"/>
            <a:ext cx="4000500" cy="91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</a:pPr>
            <a:r>
              <a:rPr lang="en-US" sz="6999" b="1" u="none" strike="noStrike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BB56EAD-B185-52E8-44A5-6EE17D9C846C}"/>
              </a:ext>
            </a:extLst>
          </p:cNvPr>
          <p:cNvSpPr/>
          <p:nvPr/>
        </p:nvSpPr>
        <p:spPr>
          <a:xfrm>
            <a:off x="1600200" y="2410562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Introduction To Data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F9C74B8-9060-9A15-BF8D-8EB313BDC1A3}"/>
              </a:ext>
            </a:extLst>
          </p:cNvPr>
          <p:cNvSpPr/>
          <p:nvPr/>
        </p:nvSpPr>
        <p:spPr>
          <a:xfrm>
            <a:off x="1600200" y="4435541"/>
            <a:ext cx="7132320" cy="1371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Data Cleaning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FD7E04A-E08E-4F27-72D1-3245B7BD767E}"/>
              </a:ext>
            </a:extLst>
          </p:cNvPr>
          <p:cNvSpPr/>
          <p:nvPr/>
        </p:nvSpPr>
        <p:spPr>
          <a:xfrm>
            <a:off x="1600200" y="6515100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Data Modeling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4D55A3-859A-C55E-8912-730109BCECC1}"/>
              </a:ext>
            </a:extLst>
          </p:cNvPr>
          <p:cNvSpPr/>
          <p:nvPr/>
        </p:nvSpPr>
        <p:spPr>
          <a:xfrm>
            <a:off x="9738359" y="4447976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Dashboard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F0BD49E-1F2F-6B46-9DBA-ECF7E16FC1AA}"/>
              </a:ext>
            </a:extLst>
          </p:cNvPr>
          <p:cNvCxnSpPr>
            <a:cxnSpLocks/>
          </p:cNvCxnSpPr>
          <p:nvPr/>
        </p:nvCxnSpPr>
        <p:spPr>
          <a:xfrm>
            <a:off x="772341" y="3096362"/>
            <a:ext cx="0" cy="410453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28D2AE2-2CFF-B7DF-54B9-1C2753C6D07A}"/>
              </a:ext>
            </a:extLst>
          </p:cNvPr>
          <p:cNvCxnSpPr>
            <a:cxnSpLocks/>
          </p:cNvCxnSpPr>
          <p:nvPr/>
        </p:nvCxnSpPr>
        <p:spPr>
          <a:xfrm>
            <a:off x="16805160" y="5121341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DF9C754-B7D7-ABA6-C5FD-27481DE9020C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756285" y="7200900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F24674A-DE22-F7ED-0C19-8DDB7B3A2AB7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756285" y="5121341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388A377-909A-5056-A29C-1722C0DD247D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756285" y="3096362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C635BB-4438-D09B-858D-C6831F992765}"/>
              </a:ext>
            </a:extLst>
          </p:cNvPr>
          <p:cNvSpPr/>
          <p:nvPr/>
        </p:nvSpPr>
        <p:spPr>
          <a:xfrm>
            <a:off x="9738359" y="6515100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Insights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FCA6FC5-4528-9A52-A160-D9BA4584328A}"/>
              </a:ext>
            </a:extLst>
          </p:cNvPr>
          <p:cNvSpPr/>
          <p:nvPr/>
        </p:nvSpPr>
        <p:spPr>
          <a:xfrm>
            <a:off x="9738359" y="2504427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KPIs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2F0099-D1F6-550B-B951-21C556E2902D}"/>
              </a:ext>
            </a:extLst>
          </p:cNvPr>
          <p:cNvCxnSpPr>
            <a:cxnSpLocks/>
          </p:cNvCxnSpPr>
          <p:nvPr/>
        </p:nvCxnSpPr>
        <p:spPr>
          <a:xfrm>
            <a:off x="16805160" y="3105433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C58E5B5-1EC9-E9E4-E499-3B9605F057CF}"/>
              </a:ext>
            </a:extLst>
          </p:cNvPr>
          <p:cNvCxnSpPr>
            <a:cxnSpLocks/>
          </p:cNvCxnSpPr>
          <p:nvPr/>
        </p:nvCxnSpPr>
        <p:spPr>
          <a:xfrm>
            <a:off x="16805160" y="7200900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275271-3D3D-BBCA-9A1E-2B9F4C04603C}"/>
              </a:ext>
            </a:extLst>
          </p:cNvPr>
          <p:cNvCxnSpPr>
            <a:cxnSpLocks/>
          </p:cNvCxnSpPr>
          <p:nvPr/>
        </p:nvCxnSpPr>
        <p:spPr>
          <a:xfrm>
            <a:off x="17668309" y="3096362"/>
            <a:ext cx="0" cy="410453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952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28967-9B0B-96E4-AC1C-751BDB45F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22324A0-D090-5BE5-0AB1-9C06F49A5E4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1783997-182D-0643-2625-7819F271FAC9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BD387AA-AC89-44C6-9806-9EDAF00644C1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721DB37-0432-AAE2-1D15-EEB7FCB8EF3C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6BC646F-9516-FF24-A6F3-C14B0EDDCB4B}"/>
              </a:ext>
            </a:extLst>
          </p:cNvPr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A89EE99-C65B-9706-F3A3-474D2493EA61}"/>
              </a:ext>
            </a:extLst>
          </p:cNvPr>
          <p:cNvSpPr txBox="1"/>
          <p:nvPr/>
        </p:nvSpPr>
        <p:spPr>
          <a:xfrm>
            <a:off x="3352213" y="558950"/>
            <a:ext cx="11583573" cy="9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3FFA38-5DFA-3D00-CC3E-C0D206E0C1D3}"/>
              </a:ext>
            </a:extLst>
          </p:cNvPr>
          <p:cNvSpPr txBox="1"/>
          <p:nvPr/>
        </p:nvSpPr>
        <p:spPr>
          <a:xfrm>
            <a:off x="1219199" y="1660969"/>
            <a:ext cx="15849600" cy="7586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spcAft>
                <a:spcPts val="600"/>
              </a:spcAft>
              <a:buNone/>
            </a:pPr>
            <a:r>
              <a:rPr lang="en-US" sz="3600" b="1" dirty="0">
                <a:solidFill>
                  <a:schemeClr val="bg1"/>
                </a:solidFill>
                <a:latin typeface="Segoe UI" panose="020B0502040204020203" pitchFamily="34" charset="0"/>
              </a:rPr>
              <a:t>Purpose: Ensure data reliability before analysis</a:t>
            </a:r>
            <a:endParaRPr lang="en-US" sz="3600" dirty="0">
              <a:solidFill>
                <a:schemeClr val="bg1"/>
              </a:solidFill>
              <a:latin typeface="Segoe UI" panose="020B0502040204020203" pitchFamily="34" charset="0"/>
            </a:endParaRPr>
          </a:p>
          <a:p>
            <a:pPr marL="742950" indent="-742950" fontAlgn="t">
              <a:spcAft>
                <a:spcPts val="600"/>
              </a:spcAft>
              <a:buFont typeface="+mj-lt"/>
              <a:buAutoNum type="arabicPeriod"/>
            </a:pPr>
            <a:r>
              <a:rPr lang="en-US" sz="3600" b="1" dirty="0">
                <a:solidFill>
                  <a:schemeClr val="bg1"/>
                </a:solidFill>
                <a:latin typeface="Segoe UI" panose="020B0502040204020203" pitchFamily="34" charset="0"/>
              </a:rPr>
              <a:t>Reviewed missing values: </a:t>
            </a:r>
          </a:p>
          <a:p>
            <a:pPr marL="1028700" lvl="1" indent="-5715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</a:rPr>
              <a:t>Verified missing values vs. zero values</a:t>
            </a:r>
          </a:p>
          <a:p>
            <a:pPr marL="742950" indent="-742950" fontAlgn="t">
              <a:spcAft>
                <a:spcPts val="600"/>
              </a:spcAft>
              <a:buFont typeface="+mj-lt"/>
              <a:buAutoNum type="arabicPeriod"/>
            </a:pPr>
            <a:r>
              <a:rPr lang="en-US" sz="3600" b="1" dirty="0">
                <a:solidFill>
                  <a:schemeClr val="bg1"/>
                </a:solidFill>
                <a:latin typeface="Segoe UI" panose="020B0502040204020203" pitchFamily="34" charset="0"/>
              </a:rPr>
              <a:t>Checked for outliers: </a:t>
            </a:r>
          </a:p>
          <a:p>
            <a:pPr marL="1028700" lvl="1" indent="-5715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</a:rPr>
              <a:t>Extremely low or high RPM values</a:t>
            </a:r>
          </a:p>
          <a:p>
            <a:pPr marL="742950" indent="-742950" fontAlgn="t">
              <a:spcAft>
                <a:spcPts val="600"/>
              </a:spcAft>
              <a:buFont typeface="+mj-lt"/>
              <a:buAutoNum type="arabicPeriod"/>
            </a:pPr>
            <a:r>
              <a:rPr lang="en-US" sz="3600" b="1" dirty="0">
                <a:solidFill>
                  <a:schemeClr val="bg1"/>
                </a:solidFill>
                <a:latin typeface="Segoe UI" panose="020B0502040204020203" pitchFamily="34" charset="0"/>
              </a:rPr>
              <a:t>Validated logical constraints: </a:t>
            </a:r>
          </a:p>
          <a:p>
            <a:pPr marL="1028700" lvl="1" indent="-5715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</a:rPr>
              <a:t>Production units ≥ 0</a:t>
            </a:r>
          </a:p>
          <a:p>
            <a:pPr marL="1028700" lvl="1" indent="-5715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</a:rPr>
              <a:t>Downtime hours ≥ 0</a:t>
            </a:r>
          </a:p>
          <a:p>
            <a:pPr marL="1028700" lvl="1" indent="-5715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</a:rPr>
              <a:t>Failures aligned with downtime</a:t>
            </a:r>
          </a:p>
          <a:p>
            <a:pPr marL="742950" indent="-742950" fontAlgn="t">
              <a:spcAft>
                <a:spcPts val="600"/>
              </a:spcAft>
              <a:buFont typeface="+mj-lt"/>
              <a:buAutoNum type="arabicPeriod"/>
            </a:pPr>
            <a:r>
              <a:rPr lang="en-US" sz="3600" b="1" dirty="0">
                <a:solidFill>
                  <a:schemeClr val="bg1"/>
                </a:solidFill>
                <a:latin typeface="Segoe UI" panose="020B0502040204020203" pitchFamily="34" charset="0"/>
              </a:rPr>
              <a:t>Preserved realistic operational data: </a:t>
            </a:r>
          </a:p>
          <a:p>
            <a:pPr marL="1028700" lvl="1" indent="-5715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</a:rPr>
              <a:t>No aggressive outlier removal</a:t>
            </a:r>
          </a:p>
          <a:p>
            <a:pPr marL="1028700" lvl="1" indent="-571500" fontAlgn="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</a:rPr>
              <a:t>Maintained real production behavior</a:t>
            </a:r>
          </a:p>
        </p:txBody>
      </p:sp>
    </p:spTree>
    <p:extLst>
      <p:ext uri="{BB962C8B-B14F-4D97-AF65-F5344CB8AC3E}">
        <p14:creationId xmlns:p14="http://schemas.microsoft.com/office/powerpoint/2010/main" val="1241836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39B12-5F59-E61F-ADD2-F0893BACD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86B377-2F1E-934B-9E36-416071538C7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75E1C52-3413-D473-5102-3EF7CE8F864C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7B43183-BB24-FB18-6160-E9954DC53212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860A828-AC34-8275-71C3-F8E55DADC50D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C4375990-C22F-B995-C96C-04FD5F6D7A14}"/>
              </a:ext>
            </a:extLst>
          </p:cNvPr>
          <p:cNvSpPr txBox="1"/>
          <p:nvPr/>
        </p:nvSpPr>
        <p:spPr>
          <a:xfrm>
            <a:off x="7124700" y="478762"/>
            <a:ext cx="4000500" cy="91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</a:pPr>
            <a:r>
              <a:rPr lang="en-US" sz="6999" b="1" u="none" strike="noStrike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DFA1110-B848-03AF-93F8-9D90D3F40F50}"/>
              </a:ext>
            </a:extLst>
          </p:cNvPr>
          <p:cNvSpPr/>
          <p:nvPr/>
        </p:nvSpPr>
        <p:spPr>
          <a:xfrm>
            <a:off x="1600200" y="2410562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Introduction To Data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20545B5-2553-EB6E-3125-15CC2741FE25}"/>
              </a:ext>
            </a:extLst>
          </p:cNvPr>
          <p:cNvSpPr/>
          <p:nvPr/>
        </p:nvSpPr>
        <p:spPr>
          <a:xfrm>
            <a:off x="1600200" y="4435541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Data Cleaning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568DB3D-7DA5-7D25-1D77-F8D0E1DF8B3E}"/>
              </a:ext>
            </a:extLst>
          </p:cNvPr>
          <p:cNvSpPr/>
          <p:nvPr/>
        </p:nvSpPr>
        <p:spPr>
          <a:xfrm>
            <a:off x="1600200" y="6515100"/>
            <a:ext cx="7132320" cy="1371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Data Modeling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B5D402C-FBF9-218F-E1C2-E8D158508780}"/>
              </a:ext>
            </a:extLst>
          </p:cNvPr>
          <p:cNvSpPr/>
          <p:nvPr/>
        </p:nvSpPr>
        <p:spPr>
          <a:xfrm>
            <a:off x="9738359" y="4447976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Dashboard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5ED11AA-46AF-7B0E-123D-8BD7A0E54FDA}"/>
              </a:ext>
            </a:extLst>
          </p:cNvPr>
          <p:cNvCxnSpPr>
            <a:cxnSpLocks/>
          </p:cNvCxnSpPr>
          <p:nvPr/>
        </p:nvCxnSpPr>
        <p:spPr>
          <a:xfrm>
            <a:off x="772341" y="3096362"/>
            <a:ext cx="0" cy="410453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FDBFE1A-4BB4-E8E8-934F-8078E6535173}"/>
              </a:ext>
            </a:extLst>
          </p:cNvPr>
          <p:cNvCxnSpPr>
            <a:cxnSpLocks/>
          </p:cNvCxnSpPr>
          <p:nvPr/>
        </p:nvCxnSpPr>
        <p:spPr>
          <a:xfrm>
            <a:off x="16805160" y="5121341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C173B23-2108-F78B-34DF-B84FEBA936B5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756285" y="7200900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05DFC10-79D6-BD8B-5CD4-40DFC6DED746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756285" y="5121341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62B9975-7B1D-4F68-0B8B-B4BEAF3404F6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756285" y="3096362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B08C8F-D93A-C0F8-A370-D858B2DBBBD7}"/>
              </a:ext>
            </a:extLst>
          </p:cNvPr>
          <p:cNvSpPr/>
          <p:nvPr/>
        </p:nvSpPr>
        <p:spPr>
          <a:xfrm>
            <a:off x="9738359" y="6515100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Insights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323A24E-A27F-FE06-EB0B-B5E7E37CE5A8}"/>
              </a:ext>
            </a:extLst>
          </p:cNvPr>
          <p:cNvSpPr/>
          <p:nvPr/>
        </p:nvSpPr>
        <p:spPr>
          <a:xfrm>
            <a:off x="9738359" y="2504427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KPIs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B354028-0960-3BE5-6FFD-3453B3F32909}"/>
              </a:ext>
            </a:extLst>
          </p:cNvPr>
          <p:cNvCxnSpPr>
            <a:cxnSpLocks/>
          </p:cNvCxnSpPr>
          <p:nvPr/>
        </p:nvCxnSpPr>
        <p:spPr>
          <a:xfrm>
            <a:off x="16805160" y="3105433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F03AA0B-2157-754D-A0A0-AA78A83E7EDB}"/>
              </a:ext>
            </a:extLst>
          </p:cNvPr>
          <p:cNvCxnSpPr>
            <a:cxnSpLocks/>
          </p:cNvCxnSpPr>
          <p:nvPr/>
        </p:nvCxnSpPr>
        <p:spPr>
          <a:xfrm>
            <a:off x="16805160" y="7200900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D816199-F8DF-1B2E-F4FE-0364E554485D}"/>
              </a:ext>
            </a:extLst>
          </p:cNvPr>
          <p:cNvCxnSpPr>
            <a:cxnSpLocks/>
          </p:cNvCxnSpPr>
          <p:nvPr/>
        </p:nvCxnSpPr>
        <p:spPr>
          <a:xfrm>
            <a:off x="17668309" y="3096362"/>
            <a:ext cx="0" cy="410453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923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369EF-FB2A-E362-EF20-77FD97448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E60DC1-32EA-A1B9-944D-EF4BECAC65F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536B880-C2D2-796A-9BD6-4359614D5D48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A7A48FB-682F-776B-F7F5-25787A81B83E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CBF3E7C-4AB5-9A8C-F581-110E300EAC3B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FB7ECB7-6DCE-1328-3FB5-EEEA33A80E94}"/>
              </a:ext>
            </a:extLst>
          </p:cNvPr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8EECADB-55E9-1522-D8B8-C5A69A453A47}"/>
              </a:ext>
            </a:extLst>
          </p:cNvPr>
          <p:cNvSpPr txBox="1"/>
          <p:nvPr/>
        </p:nvSpPr>
        <p:spPr>
          <a:xfrm>
            <a:off x="3352213" y="558950"/>
            <a:ext cx="11583573" cy="9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Modeling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FDA86-C85D-9B92-0F10-6411A5D2CFE6}"/>
              </a:ext>
            </a:extLst>
          </p:cNvPr>
          <p:cNvSpPr txBox="1"/>
          <p:nvPr/>
        </p:nvSpPr>
        <p:spPr>
          <a:xfrm>
            <a:off x="1219199" y="1660969"/>
            <a:ext cx="15849600" cy="7725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4000" b="1" dirty="0">
                <a:solidFill>
                  <a:schemeClr val="bg1"/>
                </a:solidFill>
              </a:rPr>
              <a:t>1. Identify Business Questions</a:t>
            </a:r>
            <a:endParaRPr lang="en-US" sz="4000" dirty="0">
              <a:solidFill>
                <a:schemeClr val="bg1"/>
              </a:solidFill>
            </a:endParaRPr>
          </a:p>
          <a:p>
            <a:pPr fontAlgn="t"/>
            <a:r>
              <a:rPr lang="en-US" sz="4000" b="1" dirty="0">
                <a:solidFill>
                  <a:schemeClr val="bg1"/>
                </a:solidFill>
              </a:rPr>
              <a:t>  Defined the main analytical questions: </a:t>
            </a:r>
          </a:p>
          <a:p>
            <a:pPr marL="1485900" lvl="2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Who is producing?</a:t>
            </a:r>
          </a:p>
          <a:p>
            <a:pPr marL="1485900" lvl="2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What is being produced?</a:t>
            </a:r>
          </a:p>
          <a:p>
            <a:pPr marL="1485900" lvl="2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When does production and failure occur?</a:t>
            </a:r>
          </a:p>
          <a:p>
            <a:pPr marL="1485900" lvl="2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Why do failures and maintenance actions happen?</a:t>
            </a:r>
            <a:endParaRPr lang="ar-EG" sz="4000" dirty="0">
              <a:solidFill>
                <a:schemeClr val="bg1"/>
              </a:solidFill>
            </a:endParaRPr>
          </a:p>
          <a:p>
            <a:pPr fontAlgn="t"/>
            <a:endParaRPr lang="ar-EG" sz="4000" dirty="0">
              <a:solidFill>
                <a:schemeClr val="bg1"/>
              </a:solidFill>
            </a:endParaRPr>
          </a:p>
          <a:p>
            <a:pPr fontAlgn="t"/>
            <a:r>
              <a:rPr lang="en-US" sz="3600" b="1" dirty="0">
                <a:solidFill>
                  <a:schemeClr val="bg1"/>
                </a:solidFill>
              </a:rPr>
              <a:t>2.  Separate Fact and Dimension Data</a:t>
            </a:r>
            <a:endParaRPr lang="en-US" sz="3600" dirty="0">
              <a:solidFill>
                <a:schemeClr val="bg1"/>
              </a:solidFill>
            </a:endParaRPr>
          </a:p>
          <a:p>
            <a:pPr fontAlgn="t"/>
            <a:r>
              <a:rPr lang="en-US" sz="3600" dirty="0">
                <a:solidFill>
                  <a:schemeClr val="bg1"/>
                </a:solidFill>
              </a:rPr>
              <a:t>  Identified the </a:t>
            </a:r>
            <a:r>
              <a:rPr lang="en-US" sz="3600" b="1" dirty="0">
                <a:solidFill>
                  <a:schemeClr val="bg1"/>
                </a:solidFill>
              </a:rPr>
              <a:t>fact table</a:t>
            </a:r>
            <a:r>
              <a:rPr lang="en-US" sz="3600" dirty="0">
                <a:solidFill>
                  <a:schemeClr val="bg1"/>
                </a:solidFill>
              </a:rPr>
              <a:t> containing: </a:t>
            </a:r>
          </a:p>
          <a:p>
            <a:pPr fontAlgn="t"/>
            <a:r>
              <a:rPr lang="en-US" sz="3600" dirty="0">
                <a:solidFill>
                  <a:schemeClr val="bg1"/>
                </a:solidFill>
              </a:rPr>
              <a:t>      • Operating hours                        • Downtime                    • Failures type</a:t>
            </a:r>
          </a:p>
          <a:p>
            <a:pPr fontAlgn="t"/>
            <a:r>
              <a:rPr lang="en-US" sz="3600" dirty="0">
                <a:solidFill>
                  <a:schemeClr val="bg1"/>
                </a:solidFill>
              </a:rPr>
              <a:t>  Identified </a:t>
            </a:r>
            <a:r>
              <a:rPr lang="en-US" sz="3600" b="1" dirty="0">
                <a:solidFill>
                  <a:schemeClr val="bg1"/>
                </a:solidFill>
              </a:rPr>
              <a:t>dimension tables</a:t>
            </a:r>
            <a:r>
              <a:rPr lang="en-US" sz="3600" dirty="0">
                <a:solidFill>
                  <a:schemeClr val="bg1"/>
                </a:solidFill>
              </a:rPr>
              <a:t> to describe context: </a:t>
            </a:r>
          </a:p>
          <a:p>
            <a:pPr fontAlgn="t"/>
            <a:r>
              <a:rPr lang="en-US" sz="3600" dirty="0">
                <a:solidFill>
                  <a:schemeClr val="bg1"/>
                </a:solidFill>
              </a:rPr>
              <a:t>      • Machine                                     • Product                         • Time</a:t>
            </a:r>
          </a:p>
          <a:p>
            <a:pPr fontAlgn="t"/>
            <a:r>
              <a:rPr lang="en-US" sz="3600" dirty="0">
                <a:solidFill>
                  <a:schemeClr val="bg1"/>
                </a:solidFill>
              </a:rPr>
              <a:t>      • Failure                                         • Maintenance</a:t>
            </a:r>
          </a:p>
        </p:txBody>
      </p:sp>
    </p:spTree>
    <p:extLst>
      <p:ext uri="{BB962C8B-B14F-4D97-AF65-F5344CB8AC3E}">
        <p14:creationId xmlns:p14="http://schemas.microsoft.com/office/powerpoint/2010/main" val="1331497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4802D-950F-1E1B-E97D-DF73B61D2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CF4DE6-B3E7-2C62-F31D-A13D61A2A68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B90F6E0-0C25-0E75-8D38-BC902633356F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3982E9B-1132-8976-9968-ABAE151E1496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45DC9A7-3C60-FDEF-71E0-37E7A376717F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05C46CD-1EB4-7B17-8F2F-BADEB7CEF3DA}"/>
              </a:ext>
            </a:extLst>
          </p:cNvPr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923D946-F15B-7F9B-FD69-13A829CB0346}"/>
              </a:ext>
            </a:extLst>
          </p:cNvPr>
          <p:cNvSpPr txBox="1"/>
          <p:nvPr/>
        </p:nvSpPr>
        <p:spPr>
          <a:xfrm>
            <a:off x="3352213" y="558950"/>
            <a:ext cx="11583573" cy="9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Modeling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0D588F-5B49-2279-CD15-B996FE413AAF}"/>
              </a:ext>
            </a:extLst>
          </p:cNvPr>
          <p:cNvSpPr txBox="1"/>
          <p:nvPr/>
        </p:nvSpPr>
        <p:spPr>
          <a:xfrm>
            <a:off x="1219199" y="1660969"/>
            <a:ext cx="15849600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3600" b="1" dirty="0">
                <a:solidFill>
                  <a:schemeClr val="bg1"/>
                </a:solidFill>
              </a:rPr>
              <a:t>3. Create Analytical Dimensions (Who / What / When / Why)</a:t>
            </a:r>
            <a:endParaRPr lang="en-US" sz="3600" dirty="0">
              <a:solidFill>
                <a:schemeClr val="bg1"/>
              </a:solidFill>
            </a:endParaRP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Who</a:t>
            </a:r>
            <a:r>
              <a:rPr lang="en-US" sz="3600" dirty="0">
                <a:solidFill>
                  <a:schemeClr val="bg1"/>
                </a:solidFill>
              </a:rPr>
              <a:t> → Machine Dimension (machine, type, brand)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What</a:t>
            </a:r>
            <a:r>
              <a:rPr lang="en-US" sz="3600" dirty="0">
                <a:solidFill>
                  <a:schemeClr val="bg1"/>
                </a:solidFill>
              </a:rPr>
              <a:t> → Product Dimension (product type)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When</a:t>
            </a:r>
            <a:r>
              <a:rPr lang="en-US" sz="3600" dirty="0">
                <a:solidFill>
                  <a:schemeClr val="bg1"/>
                </a:solidFill>
              </a:rPr>
              <a:t> → Time Dimension (date, day, month)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bg1"/>
                </a:solidFill>
              </a:rPr>
              <a:t>Why</a:t>
            </a:r>
            <a:r>
              <a:rPr lang="en-US" sz="3600" dirty="0">
                <a:solidFill>
                  <a:schemeClr val="bg1"/>
                </a:solidFill>
              </a:rPr>
              <a:t> → Failure &amp; Maintenance Dimensions</a:t>
            </a:r>
          </a:p>
          <a:p>
            <a:pPr lvl="1" fontAlgn="t"/>
            <a:endParaRPr lang="en-US" sz="6000" dirty="0">
              <a:solidFill>
                <a:schemeClr val="bg1"/>
              </a:solidFill>
            </a:endParaRPr>
          </a:p>
          <a:p>
            <a:pPr fontAlgn="t"/>
            <a:r>
              <a:rPr lang="en-US" sz="3600" b="1" dirty="0">
                <a:solidFill>
                  <a:schemeClr val="bg1"/>
                </a:solidFill>
              </a:rPr>
              <a:t>4. Use Keys to Build Relationships</a:t>
            </a:r>
            <a:endParaRPr lang="en-US" sz="3600" dirty="0">
              <a:solidFill>
                <a:schemeClr val="bg1"/>
              </a:solidFill>
            </a:endParaRP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Created surrogate keys for each dimension: </a:t>
            </a:r>
          </a:p>
          <a:p>
            <a:pPr lvl="2" fontAlgn="t"/>
            <a:r>
              <a:rPr lang="en-US" sz="3600" dirty="0">
                <a:solidFill>
                  <a:schemeClr val="bg1"/>
                </a:solidFill>
              </a:rPr>
              <a:t> • machine_key                      • </a:t>
            </a:r>
            <a:r>
              <a:rPr lang="en-US" sz="3600" dirty="0" err="1">
                <a:solidFill>
                  <a:schemeClr val="bg1"/>
                </a:solidFill>
              </a:rPr>
              <a:t>product_key</a:t>
            </a:r>
            <a:endParaRPr lang="en-US" sz="3600" dirty="0">
              <a:solidFill>
                <a:schemeClr val="bg1"/>
              </a:solidFill>
            </a:endParaRPr>
          </a:p>
          <a:p>
            <a:pPr fontAlgn="t"/>
            <a:r>
              <a:rPr lang="en-US" sz="3600" dirty="0">
                <a:solidFill>
                  <a:schemeClr val="bg1"/>
                </a:solidFill>
              </a:rPr>
              <a:t>	 • date_key                              • failure_key</a:t>
            </a:r>
          </a:p>
          <a:p>
            <a:pPr fontAlgn="t"/>
            <a:r>
              <a:rPr lang="en-US" sz="3600" dirty="0">
                <a:solidFill>
                  <a:schemeClr val="bg1"/>
                </a:solidFill>
              </a:rPr>
              <a:t>	 • maintenance_key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Linked all dimensions to the fact table using keys</a:t>
            </a:r>
            <a:endParaRPr lang="en-U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189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D240D-39BA-C748-4E44-421CF0181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049E0F-ADE4-7D70-5BF1-E58C99C4E328}"/>
              </a:ext>
            </a:extLst>
          </p:cNvPr>
          <p:cNvSpPr/>
          <p:nvPr/>
        </p:nvSpPr>
        <p:spPr>
          <a:xfrm>
            <a:off x="-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374E4E3-4022-23C4-4F99-E38524B62A8B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03EEF6A-1000-4770-4DFC-F6BA6E0CE00F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0780BD7-883C-3E8C-D5FE-146E18761BB3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7BE383C-0E76-2ACB-F896-72554015D793}"/>
              </a:ext>
            </a:extLst>
          </p:cNvPr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F52FF44-4F77-AEC1-27C1-BD7251F7F041}"/>
              </a:ext>
            </a:extLst>
          </p:cNvPr>
          <p:cNvSpPr txBox="1"/>
          <p:nvPr/>
        </p:nvSpPr>
        <p:spPr>
          <a:xfrm>
            <a:off x="3352213" y="558950"/>
            <a:ext cx="11583573" cy="9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Modeling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946C53-B7FF-C935-2CD7-E9A0A5166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70" y="2511967"/>
            <a:ext cx="6677025" cy="2324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8FE87C-E52B-0943-0EDA-5CA947051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970" y="6486804"/>
            <a:ext cx="6677025" cy="26841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9096017-B767-51C4-CA47-848A18E6F4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84878" y="6576315"/>
            <a:ext cx="3374522" cy="27312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F24B43C-556D-C537-3CB3-CC3034910E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5258" y="6572887"/>
            <a:ext cx="5460022" cy="26997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4BB0205-AE98-6672-D9B9-F747393BB730}"/>
              </a:ext>
            </a:extLst>
          </p:cNvPr>
          <p:cNvSpPr txBox="1"/>
          <p:nvPr/>
        </p:nvSpPr>
        <p:spPr>
          <a:xfrm>
            <a:off x="537970" y="1749332"/>
            <a:ext cx="6677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spcAft>
                <a:spcPts val="600"/>
              </a:spcAft>
              <a:buNone/>
            </a:pP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</a:rPr>
              <a:t>WHO Analysis </a:t>
            </a: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  <a:sym typeface="Wingdings" panose="05000000000000000000" pitchFamily="2" charset="2"/>
              </a:rPr>
              <a:t> DimMachine</a:t>
            </a:r>
            <a:r>
              <a:rPr lang="ar-EG" sz="36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endParaRPr lang="en-US" sz="36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176072-4E0E-A259-8764-03B9A2DDC796}"/>
              </a:ext>
            </a:extLst>
          </p:cNvPr>
          <p:cNvSpPr txBox="1"/>
          <p:nvPr/>
        </p:nvSpPr>
        <p:spPr>
          <a:xfrm>
            <a:off x="9677400" y="5278855"/>
            <a:ext cx="83017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spcAft>
                <a:spcPts val="600"/>
              </a:spcAft>
              <a:buNone/>
            </a:pP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</a:rPr>
              <a:t>WHY Analysis </a:t>
            </a: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  <a:sym typeface="Wingdings" panose="05000000000000000000" pitchFamily="2" charset="2"/>
              </a:rPr>
              <a:t>   • DimFailure</a:t>
            </a:r>
            <a:b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  <a:sym typeface="Wingdings" panose="05000000000000000000" pitchFamily="2" charset="2"/>
              </a:rPr>
            </a:br>
            <a:r>
              <a:rPr lang="ar-EG" sz="36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</a:rPr>
              <a:t>                            </a:t>
            </a: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  <a:sym typeface="Wingdings" panose="05000000000000000000" pitchFamily="2" charset="2"/>
              </a:rPr>
              <a:t>• DimMaintenance</a:t>
            </a:r>
            <a:endParaRPr lang="en-US" sz="36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AC0B7D-6537-E993-BFBD-1609D3A78C80}"/>
              </a:ext>
            </a:extLst>
          </p:cNvPr>
          <p:cNvSpPr txBox="1"/>
          <p:nvPr/>
        </p:nvSpPr>
        <p:spPr>
          <a:xfrm>
            <a:off x="838200" y="5676632"/>
            <a:ext cx="6677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spcAft>
                <a:spcPts val="600"/>
              </a:spcAft>
              <a:buNone/>
            </a:pP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</a:rPr>
              <a:t>WHO Analysis </a:t>
            </a: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  <a:sym typeface="Wingdings" panose="05000000000000000000" pitchFamily="2" charset="2"/>
              </a:rPr>
              <a:t> DimDate</a:t>
            </a:r>
            <a:r>
              <a:rPr lang="ar-EG" sz="36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endParaRPr lang="en-US" sz="36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4240EA-E781-94D7-C201-E9381E6C4C71}"/>
              </a:ext>
            </a:extLst>
          </p:cNvPr>
          <p:cNvSpPr txBox="1"/>
          <p:nvPr/>
        </p:nvSpPr>
        <p:spPr>
          <a:xfrm>
            <a:off x="10221699" y="1733949"/>
            <a:ext cx="6677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spcAft>
                <a:spcPts val="600"/>
              </a:spcAft>
              <a:buNone/>
            </a:pP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</a:rPr>
              <a:t>WHAT Analysis </a:t>
            </a:r>
            <a:r>
              <a:rPr lang="en-US" sz="3600" dirty="0">
                <a:solidFill>
                  <a:schemeClr val="bg1"/>
                </a:solidFill>
                <a:latin typeface="Segoe UI" panose="020B0502040204020203" pitchFamily="34" charset="0"/>
                <a:sym typeface="Wingdings" panose="05000000000000000000" pitchFamily="2" charset="2"/>
              </a:rPr>
              <a:t> DimProduct</a:t>
            </a:r>
            <a:r>
              <a:rPr lang="ar-EG" sz="36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endParaRPr lang="en-US" sz="3600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7FCFBFD-708D-600F-0F8A-93609499EB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79084" y="2511967"/>
            <a:ext cx="5891405" cy="232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953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4F567-2BF3-7970-2B34-F19D82D1D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0280C9E-996F-EF0C-743E-E78AB5B50D4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9BF5CBF-A438-9B00-4F89-12C3520B10B0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B92EBA6-95A3-6850-86A8-6D031579F813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362BA14-5271-1AA2-D46B-CF75F605FAD3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A73FBB36-96CE-A857-A02F-9B0F1FEC25A0}"/>
              </a:ext>
            </a:extLst>
          </p:cNvPr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7563371-2766-CA7B-76AE-1FB9552C39A6}"/>
              </a:ext>
            </a:extLst>
          </p:cNvPr>
          <p:cNvSpPr txBox="1"/>
          <p:nvPr/>
        </p:nvSpPr>
        <p:spPr>
          <a:xfrm>
            <a:off x="3352213" y="558950"/>
            <a:ext cx="11583573" cy="9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Modeling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EC5219-080D-8B8D-D8E5-8058A14D33DD}"/>
              </a:ext>
            </a:extLst>
          </p:cNvPr>
          <p:cNvSpPr txBox="1"/>
          <p:nvPr/>
        </p:nvSpPr>
        <p:spPr>
          <a:xfrm>
            <a:off x="1219199" y="2248118"/>
            <a:ext cx="15849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4400" b="1" dirty="0">
                <a:solidFill>
                  <a:schemeClr val="bg1"/>
                </a:solidFill>
              </a:rPr>
              <a:t>5. Apply Star Schema Structure</a:t>
            </a:r>
            <a:endParaRPr lang="en-US" sz="4400" dirty="0">
              <a:solidFill>
                <a:schemeClr val="bg1"/>
              </a:solidFill>
            </a:endParaRP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One central </a:t>
            </a:r>
            <a:r>
              <a:rPr lang="en-US" sz="4400" b="1" dirty="0">
                <a:solidFill>
                  <a:schemeClr val="bg1"/>
                </a:solidFill>
              </a:rPr>
              <a:t>Fact table</a:t>
            </a:r>
            <a:endParaRPr lang="en-US" sz="4400" dirty="0">
              <a:solidFill>
                <a:schemeClr val="bg1"/>
              </a:solidFill>
            </a:endParaRP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Multiple connected </a:t>
            </a:r>
            <a:r>
              <a:rPr lang="en-US" sz="4400" b="1" dirty="0">
                <a:solidFill>
                  <a:schemeClr val="bg1"/>
                </a:solidFill>
              </a:rPr>
              <a:t>Dimension tables</a:t>
            </a:r>
            <a:endParaRPr lang="en-US" sz="4400" dirty="0">
              <a:solidFill>
                <a:schemeClr val="bg1"/>
              </a:solidFill>
            </a:endParaRP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Simplified joins for analysis and dashboarding</a:t>
            </a:r>
          </a:p>
        </p:txBody>
      </p:sp>
    </p:spTree>
    <p:extLst>
      <p:ext uri="{BB962C8B-B14F-4D97-AF65-F5344CB8AC3E}">
        <p14:creationId xmlns:p14="http://schemas.microsoft.com/office/powerpoint/2010/main" val="4135165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39AA8-F66F-9A1E-8793-9AF808381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9F10EAF-212B-C486-6118-BB3A520E741B}"/>
              </a:ext>
            </a:extLst>
          </p:cNvPr>
          <p:cNvSpPr/>
          <p:nvPr/>
        </p:nvSpPr>
        <p:spPr>
          <a:xfrm>
            <a:off x="-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CBD5E29-5370-6C0E-CCA1-F03F21AA0925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117A8C2-561A-24CE-FF3B-417C552FBADB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51A74BF-C52F-36B6-E447-6A3F3BE45622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CB88E01-227B-6FD8-2C52-F6445C896663}"/>
              </a:ext>
            </a:extLst>
          </p:cNvPr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3523A9F-8A58-EB42-DD48-95DABC5A4F49}"/>
              </a:ext>
            </a:extLst>
          </p:cNvPr>
          <p:cNvSpPr txBox="1"/>
          <p:nvPr/>
        </p:nvSpPr>
        <p:spPr>
          <a:xfrm>
            <a:off x="3352213" y="558950"/>
            <a:ext cx="11583573" cy="9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Modeling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0FE344-B806-050B-1A8A-ABD29B621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4106" y="1741073"/>
            <a:ext cx="12979786" cy="766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715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47561-A243-0AFF-6B35-0C123A7FC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2C8F48C-3DA8-6DE7-9ABA-4DA47AF693A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7770970-0524-1E4B-70AF-3CDA7B9BA5FB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124DC55-038F-9C70-0D7A-D5466033F777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01FACE7-A580-B825-76C6-C2E00F239717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01CBA775-319A-893C-390D-418C4130E38C}"/>
              </a:ext>
            </a:extLst>
          </p:cNvPr>
          <p:cNvSpPr txBox="1"/>
          <p:nvPr/>
        </p:nvSpPr>
        <p:spPr>
          <a:xfrm>
            <a:off x="7124700" y="478762"/>
            <a:ext cx="4000500" cy="91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</a:pPr>
            <a:r>
              <a:rPr lang="en-US" sz="6999" b="1" u="none" strike="noStrike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3224E8-880D-DE9B-10A1-F2AD29E4ED7A}"/>
              </a:ext>
            </a:extLst>
          </p:cNvPr>
          <p:cNvSpPr/>
          <p:nvPr/>
        </p:nvSpPr>
        <p:spPr>
          <a:xfrm>
            <a:off x="1600200" y="2410562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Introduction To Data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1742002-BE82-7834-6E14-26446E54AB95}"/>
              </a:ext>
            </a:extLst>
          </p:cNvPr>
          <p:cNvSpPr/>
          <p:nvPr/>
        </p:nvSpPr>
        <p:spPr>
          <a:xfrm>
            <a:off x="1600200" y="4435541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Data Cleaning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38DCA6A-B0D1-6B2B-828D-80A602B1EDF5}"/>
              </a:ext>
            </a:extLst>
          </p:cNvPr>
          <p:cNvSpPr/>
          <p:nvPr/>
        </p:nvSpPr>
        <p:spPr>
          <a:xfrm>
            <a:off x="1600200" y="6515100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Data Modeling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C0FB99E-B6D2-0083-333D-78A2EDE46BA9}"/>
              </a:ext>
            </a:extLst>
          </p:cNvPr>
          <p:cNvSpPr/>
          <p:nvPr/>
        </p:nvSpPr>
        <p:spPr>
          <a:xfrm>
            <a:off x="9738359" y="4447976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Dashboard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10F087B-883F-EFFD-A76C-DB2FE2DBAD93}"/>
              </a:ext>
            </a:extLst>
          </p:cNvPr>
          <p:cNvCxnSpPr>
            <a:cxnSpLocks/>
          </p:cNvCxnSpPr>
          <p:nvPr/>
        </p:nvCxnSpPr>
        <p:spPr>
          <a:xfrm>
            <a:off x="772341" y="3096362"/>
            <a:ext cx="0" cy="410453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928687A-8DFA-A24A-E889-6EB2B24A4EE3}"/>
              </a:ext>
            </a:extLst>
          </p:cNvPr>
          <p:cNvCxnSpPr>
            <a:cxnSpLocks/>
          </p:cNvCxnSpPr>
          <p:nvPr/>
        </p:nvCxnSpPr>
        <p:spPr>
          <a:xfrm>
            <a:off x="16805160" y="5121341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09856C5-0F99-ACE5-F745-8EDB3F5F11EC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756285" y="7200900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2458135-2356-2B30-6644-BFF5DBAFDCED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756285" y="5121341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5EC8981-F4AA-B1E9-836E-B8CC73EE9534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756285" y="3096362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8CECA45-1C03-65EB-57AF-556FB6B5FD62}"/>
              </a:ext>
            </a:extLst>
          </p:cNvPr>
          <p:cNvSpPr/>
          <p:nvPr/>
        </p:nvSpPr>
        <p:spPr>
          <a:xfrm>
            <a:off x="9738359" y="6515100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Insights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B3B892D-1CA7-9F86-59E5-B9AF0FAD728F}"/>
              </a:ext>
            </a:extLst>
          </p:cNvPr>
          <p:cNvSpPr/>
          <p:nvPr/>
        </p:nvSpPr>
        <p:spPr>
          <a:xfrm>
            <a:off x="9738359" y="2504427"/>
            <a:ext cx="7132320" cy="1371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KPIs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1C4AA15-1EA8-D17A-F97D-FB92F30D5DB2}"/>
              </a:ext>
            </a:extLst>
          </p:cNvPr>
          <p:cNvCxnSpPr>
            <a:cxnSpLocks/>
          </p:cNvCxnSpPr>
          <p:nvPr/>
        </p:nvCxnSpPr>
        <p:spPr>
          <a:xfrm>
            <a:off x="16805160" y="3105433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63819B8-EB65-2397-9A72-4419A6AF890B}"/>
              </a:ext>
            </a:extLst>
          </p:cNvPr>
          <p:cNvCxnSpPr>
            <a:cxnSpLocks/>
          </p:cNvCxnSpPr>
          <p:nvPr/>
        </p:nvCxnSpPr>
        <p:spPr>
          <a:xfrm>
            <a:off x="16805160" y="7200900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720184B-0F58-560D-C23E-EC2747252B83}"/>
              </a:ext>
            </a:extLst>
          </p:cNvPr>
          <p:cNvCxnSpPr>
            <a:cxnSpLocks/>
          </p:cNvCxnSpPr>
          <p:nvPr/>
        </p:nvCxnSpPr>
        <p:spPr>
          <a:xfrm>
            <a:off x="17668309" y="3096362"/>
            <a:ext cx="0" cy="410453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449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28967-9B0B-96E4-AC1C-751BDB45F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22324A0-D090-5BE5-0AB1-9C06F49A5E4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1783997-182D-0643-2625-7819F271FAC9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BD387AA-AC89-44C6-9806-9EDAF00644C1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721DB37-0432-AAE2-1D15-EEB7FCB8EF3C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6BC646F-9516-FF24-A6F3-C14B0EDDCB4B}"/>
              </a:ext>
            </a:extLst>
          </p:cNvPr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A89EE99-C65B-9706-F3A3-474D2493EA61}"/>
              </a:ext>
            </a:extLst>
          </p:cNvPr>
          <p:cNvSpPr txBox="1"/>
          <p:nvPr/>
        </p:nvSpPr>
        <p:spPr>
          <a:xfrm>
            <a:off x="3352213" y="558950"/>
            <a:ext cx="11583573" cy="9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KPIs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3FFA38-5DFA-3D00-CC3E-C0D206E0C1D3}"/>
              </a:ext>
            </a:extLst>
          </p:cNvPr>
          <p:cNvSpPr txBox="1"/>
          <p:nvPr/>
        </p:nvSpPr>
        <p:spPr>
          <a:xfrm>
            <a:off x="1219199" y="3197678"/>
            <a:ext cx="15849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4000" dirty="0">
                <a:solidFill>
                  <a:schemeClr val="bg1"/>
                </a:solidFill>
              </a:rPr>
              <a:t>Availability → Downtime losses</a:t>
            </a:r>
          </a:p>
          <a:p>
            <a:pPr fontAlgn="t"/>
            <a:r>
              <a:rPr lang="en-US" sz="4000" dirty="0">
                <a:solidFill>
                  <a:schemeClr val="bg1"/>
                </a:solidFill>
              </a:rPr>
              <a:t>Performance → Speed losses</a:t>
            </a:r>
          </a:p>
          <a:p>
            <a:pPr fontAlgn="t"/>
            <a:r>
              <a:rPr lang="en-US" sz="4000" dirty="0">
                <a:solidFill>
                  <a:schemeClr val="bg1"/>
                </a:solidFill>
              </a:rPr>
              <a:t>Quality → Defect losses</a:t>
            </a:r>
          </a:p>
          <a:p>
            <a:pPr fontAlgn="t"/>
            <a:r>
              <a:rPr lang="en-US" sz="4000" dirty="0">
                <a:solidFill>
                  <a:schemeClr val="bg1"/>
                </a:solidFill>
              </a:rPr>
              <a:t>OEE → Overall efficiency indicator</a:t>
            </a:r>
          </a:p>
          <a:p>
            <a:pPr fontAlgn="t"/>
            <a:r>
              <a:rPr lang="en-US" sz="4000" dirty="0">
                <a:solidFill>
                  <a:schemeClr val="bg1"/>
                </a:solidFill>
              </a:rPr>
              <a:t>Maintenance KPIs → Reliability and repair effectiveness</a:t>
            </a:r>
          </a:p>
        </p:txBody>
      </p:sp>
    </p:spTree>
    <p:extLst>
      <p:ext uri="{BB962C8B-B14F-4D97-AF65-F5344CB8AC3E}">
        <p14:creationId xmlns:p14="http://schemas.microsoft.com/office/powerpoint/2010/main" val="4221363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89B62-FA0D-C88E-5385-CF41D750F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9C23367-A3C8-A984-2AD6-2E294A5FF63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02C92C1-E0B1-94A5-7DCA-654109030399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EE7A776-A37C-8D9E-332D-14B107ED88A2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D8568F5-BDCB-2C8F-3A89-FE87A60B42D4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D48CC6F-0AC1-A0B2-6065-D1E31CCC999D}"/>
              </a:ext>
            </a:extLst>
          </p:cNvPr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2AB5F87-A221-1180-C7BB-80BFB109663B}"/>
              </a:ext>
            </a:extLst>
          </p:cNvPr>
          <p:cNvSpPr txBox="1"/>
          <p:nvPr/>
        </p:nvSpPr>
        <p:spPr>
          <a:xfrm>
            <a:off x="3352213" y="558950"/>
            <a:ext cx="11583573" cy="9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KPIs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D6A63D-7D2C-D08A-4CE3-F5A1721DB234}"/>
              </a:ext>
            </a:extLst>
          </p:cNvPr>
          <p:cNvSpPr txBox="1"/>
          <p:nvPr/>
        </p:nvSpPr>
        <p:spPr>
          <a:xfrm>
            <a:off x="2209799" y="2031127"/>
            <a:ext cx="138684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4000" b="1" dirty="0">
                <a:solidFill>
                  <a:schemeClr val="bg1"/>
                </a:solidFill>
              </a:rPr>
              <a:t>Availability</a:t>
            </a:r>
            <a:endParaRPr lang="en-US" sz="4000" dirty="0">
              <a:solidFill>
                <a:schemeClr val="bg1"/>
              </a:solidFill>
            </a:endParaRP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Measures machine readiness and uptime</a:t>
            </a:r>
            <a:endParaRPr lang="en-US" sz="4000" dirty="0">
              <a:solidFill>
                <a:schemeClr val="bg1"/>
              </a:solidFill>
            </a:endParaRP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Definition: </a:t>
            </a:r>
          </a:p>
          <a:p>
            <a:pPr lvl="3" fontAlgn="t"/>
            <a:r>
              <a:rPr lang="en-US" sz="4000" dirty="0">
                <a:solidFill>
                  <a:schemeClr val="bg1"/>
                </a:solidFill>
              </a:rPr>
              <a:t>Percentage of time machines were available for production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Calculation: </a:t>
            </a:r>
          </a:p>
          <a:p>
            <a:pPr lvl="3" fontAlgn="t"/>
            <a:r>
              <a:rPr lang="en-US" sz="4000" dirty="0">
                <a:solidFill>
                  <a:schemeClr val="bg1"/>
                </a:solidFill>
              </a:rPr>
              <a:t>(Operating Time − Downtime) ÷ Operating Time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Purpose: </a:t>
            </a:r>
          </a:p>
          <a:p>
            <a:pPr lvl="3" fontAlgn="t"/>
            <a:r>
              <a:rPr lang="en-US" sz="4000" dirty="0">
                <a:solidFill>
                  <a:schemeClr val="bg1"/>
                </a:solidFill>
              </a:rPr>
              <a:t>Identify losses caused by breakdowns and maintenance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Insight: </a:t>
            </a:r>
          </a:p>
          <a:p>
            <a:pPr lvl="3" fontAlgn="t"/>
            <a:r>
              <a:rPr lang="en-US" sz="4000" dirty="0">
                <a:solidFill>
                  <a:schemeClr val="bg1"/>
                </a:solidFill>
              </a:rPr>
              <a:t>High availability indicates stable machine reliability</a:t>
            </a:r>
          </a:p>
        </p:txBody>
      </p:sp>
    </p:spTree>
    <p:extLst>
      <p:ext uri="{BB962C8B-B14F-4D97-AF65-F5344CB8AC3E}">
        <p14:creationId xmlns:p14="http://schemas.microsoft.com/office/powerpoint/2010/main" val="1986117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4D58A-C221-E125-0F80-051B3B390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B0EEA74-9839-2C1E-91FA-AA6F2156282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20660E7-E44E-A745-55EA-661B1F2312AA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44A46C2-0E68-E8DF-65B3-7F0BB9BD0633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D1756BE-166C-FA66-9084-E982D1C9C540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0776B46-3BDA-0699-FE27-5D849BEEF71F}"/>
              </a:ext>
            </a:extLst>
          </p:cNvPr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96EB211-D185-6AF7-C22A-A39F4B598C04}"/>
              </a:ext>
            </a:extLst>
          </p:cNvPr>
          <p:cNvSpPr txBox="1"/>
          <p:nvPr/>
        </p:nvSpPr>
        <p:spPr>
          <a:xfrm>
            <a:off x="3352213" y="558950"/>
            <a:ext cx="11583573" cy="9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KPIs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6E14E9-FD58-1A58-B53B-327E6C384BBC}"/>
              </a:ext>
            </a:extLst>
          </p:cNvPr>
          <p:cNvSpPr txBox="1"/>
          <p:nvPr/>
        </p:nvSpPr>
        <p:spPr>
          <a:xfrm>
            <a:off x="723898" y="1839815"/>
            <a:ext cx="16840201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4000" b="1" dirty="0">
                <a:solidFill>
                  <a:schemeClr val="bg1"/>
                </a:solidFill>
              </a:rPr>
              <a:t>Performance</a:t>
            </a:r>
            <a:endParaRPr lang="en-US" sz="4000" dirty="0">
              <a:solidFill>
                <a:schemeClr val="bg1"/>
              </a:solidFill>
            </a:endParaRP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Measures how fast machines run compared to their maximum capability</a:t>
            </a:r>
            <a:endParaRPr lang="en-US" sz="4000" dirty="0">
              <a:solidFill>
                <a:schemeClr val="bg1"/>
              </a:solidFill>
            </a:endParaRP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Definition: </a:t>
            </a:r>
          </a:p>
          <a:p>
            <a:pPr lvl="3" fontAlgn="t"/>
            <a:r>
              <a:rPr lang="en-US" sz="4000" dirty="0">
                <a:solidFill>
                  <a:schemeClr val="bg1"/>
                </a:solidFill>
              </a:rPr>
              <a:t>Actual production compared to theoretical maximum production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Calculation logic: </a:t>
            </a:r>
          </a:p>
          <a:p>
            <a:pPr lvl="3" fontAlgn="t"/>
            <a:r>
              <a:rPr lang="en-US" sz="4000" dirty="0">
                <a:solidFill>
                  <a:schemeClr val="bg1"/>
                </a:solidFill>
              </a:rPr>
              <a:t>Based on actual RPM vs. maximum RPM per machine</a:t>
            </a:r>
          </a:p>
          <a:p>
            <a:pPr lvl="3" fontAlgn="t"/>
            <a:r>
              <a:rPr lang="en-US" sz="4000" dirty="0">
                <a:solidFill>
                  <a:schemeClr val="bg1"/>
                </a:solidFill>
              </a:rPr>
              <a:t>Actual Output ÷ Theoretical Output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Purpose: </a:t>
            </a:r>
          </a:p>
          <a:p>
            <a:pPr lvl="3" fontAlgn="t"/>
            <a:r>
              <a:rPr lang="en-US" sz="4000" dirty="0">
                <a:solidFill>
                  <a:schemeClr val="bg1"/>
                </a:solidFill>
              </a:rPr>
              <a:t>Detect slow-running and speed losses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Insight: </a:t>
            </a:r>
          </a:p>
          <a:p>
            <a:pPr lvl="3" fontAlgn="t"/>
            <a:r>
              <a:rPr lang="en-US" sz="4000" dirty="0">
                <a:solidFill>
                  <a:schemeClr val="bg1"/>
                </a:solidFill>
              </a:rPr>
              <a:t>Low performance indicates underutilized machine capacity</a:t>
            </a:r>
          </a:p>
        </p:txBody>
      </p:sp>
    </p:spTree>
    <p:extLst>
      <p:ext uri="{BB962C8B-B14F-4D97-AF65-F5344CB8AC3E}">
        <p14:creationId xmlns:p14="http://schemas.microsoft.com/office/powerpoint/2010/main" val="2201774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D50A6-EFD7-5E47-C3CB-8FE7D5239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71BA1E8-3945-2283-2551-220889F4C96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2FD0F1E-EEE6-BFB9-C411-006471D3E2DC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3A8E1C5-360A-17A6-CA0E-2D3A996CA56B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1D1FDB2-264D-86A4-64C4-067CA13D86E1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384ADAC-C5A6-F625-490F-EBC93CCB83C0}"/>
              </a:ext>
            </a:extLst>
          </p:cNvPr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B75D9FC-7BD7-134E-250B-2FF7FD99A79C}"/>
              </a:ext>
            </a:extLst>
          </p:cNvPr>
          <p:cNvSpPr txBox="1"/>
          <p:nvPr/>
        </p:nvSpPr>
        <p:spPr>
          <a:xfrm>
            <a:off x="3352213" y="558950"/>
            <a:ext cx="11583573" cy="9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KPIs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BC0356-E0B4-B001-E3F0-3E84BA98504A}"/>
              </a:ext>
            </a:extLst>
          </p:cNvPr>
          <p:cNvSpPr txBox="1"/>
          <p:nvPr/>
        </p:nvSpPr>
        <p:spPr>
          <a:xfrm>
            <a:off x="1219199" y="2019568"/>
            <a:ext cx="158496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4000" b="1" dirty="0">
                <a:solidFill>
                  <a:schemeClr val="bg1"/>
                </a:solidFill>
              </a:rPr>
              <a:t>Quality</a:t>
            </a:r>
            <a:endParaRPr lang="en-US" sz="4000" dirty="0">
              <a:solidFill>
                <a:schemeClr val="bg1"/>
              </a:solidFill>
            </a:endParaRP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Measures production quality efficiency</a:t>
            </a:r>
            <a:endParaRPr lang="en-US" sz="4000" dirty="0">
              <a:solidFill>
                <a:schemeClr val="bg1"/>
              </a:solidFill>
            </a:endParaRP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Definition: </a:t>
            </a:r>
          </a:p>
          <a:p>
            <a:pPr lvl="4" fontAlgn="t"/>
            <a:r>
              <a:rPr lang="en-US" sz="4000" dirty="0">
                <a:solidFill>
                  <a:schemeClr val="bg1"/>
                </a:solidFill>
              </a:rPr>
              <a:t>Percentage of good units out of total produced units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Calculation: </a:t>
            </a:r>
          </a:p>
          <a:p>
            <a:pPr lvl="4" fontAlgn="t"/>
            <a:r>
              <a:rPr lang="en-US" sz="4000" dirty="0">
                <a:solidFill>
                  <a:schemeClr val="bg1"/>
                </a:solidFill>
              </a:rPr>
              <a:t>Good Units ÷ Total Units Produced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Purpose: </a:t>
            </a:r>
          </a:p>
          <a:p>
            <a:pPr lvl="4" fontAlgn="t"/>
            <a:r>
              <a:rPr lang="en-US" sz="4000" dirty="0">
                <a:solidFill>
                  <a:schemeClr val="bg1"/>
                </a:solidFill>
              </a:rPr>
              <a:t>Identify losses caused by defects and rework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Insight: </a:t>
            </a:r>
          </a:p>
          <a:p>
            <a:pPr lvl="4" fontAlgn="t"/>
            <a:r>
              <a:rPr lang="en-US" sz="4000" dirty="0">
                <a:solidFill>
                  <a:schemeClr val="bg1"/>
                </a:solidFill>
              </a:rPr>
              <a:t>High quality indicates stable and controlled processes</a:t>
            </a:r>
          </a:p>
        </p:txBody>
      </p:sp>
    </p:spTree>
    <p:extLst>
      <p:ext uri="{BB962C8B-B14F-4D97-AF65-F5344CB8AC3E}">
        <p14:creationId xmlns:p14="http://schemas.microsoft.com/office/powerpoint/2010/main" val="1296536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37A4D-FE77-5C86-8598-FFFD3EFAC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93F06B0-58A2-099A-D8EB-32617D03AD8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4CBB89F-7CD3-999F-ABC6-B118813A0436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E5AFD61-E5D3-9F28-F68C-04C92560E07A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FB2C866-DBD8-501A-7B93-E1B978A41CC1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8D037A4-AB6B-BA7D-5BAF-B130CDADDB29}"/>
              </a:ext>
            </a:extLst>
          </p:cNvPr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20065D4-4FEE-A9C6-5ADE-837AAD518D17}"/>
              </a:ext>
            </a:extLst>
          </p:cNvPr>
          <p:cNvSpPr txBox="1"/>
          <p:nvPr/>
        </p:nvSpPr>
        <p:spPr>
          <a:xfrm>
            <a:off x="3352213" y="558950"/>
            <a:ext cx="11583573" cy="9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KPIs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0945CC-AE4F-9A03-6234-1779162D5F68}"/>
              </a:ext>
            </a:extLst>
          </p:cNvPr>
          <p:cNvSpPr txBox="1"/>
          <p:nvPr/>
        </p:nvSpPr>
        <p:spPr>
          <a:xfrm>
            <a:off x="1219199" y="2038747"/>
            <a:ext cx="158496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4000" b="1" dirty="0">
                <a:solidFill>
                  <a:schemeClr val="bg1"/>
                </a:solidFill>
              </a:rPr>
              <a:t>Overall Equipment Effectiveness (OEE)</a:t>
            </a:r>
            <a:endParaRPr lang="en-US" sz="4000" dirty="0">
              <a:solidFill>
                <a:schemeClr val="bg1"/>
              </a:solidFill>
            </a:endParaRP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Measures overall manufacturing efficiency</a:t>
            </a:r>
            <a:endParaRPr lang="en-US" sz="4000" dirty="0">
              <a:solidFill>
                <a:schemeClr val="bg1"/>
              </a:solidFill>
            </a:endParaRP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Definition: </a:t>
            </a:r>
          </a:p>
          <a:p>
            <a:pPr lvl="4" fontAlgn="t"/>
            <a:r>
              <a:rPr lang="en-US" sz="4000" dirty="0">
                <a:solidFill>
                  <a:schemeClr val="bg1"/>
                </a:solidFill>
              </a:rPr>
              <a:t>Combined indicator of availability, performance, and quality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Calculation: </a:t>
            </a:r>
          </a:p>
          <a:p>
            <a:pPr lvl="4" fontAlgn="t"/>
            <a:r>
              <a:rPr lang="en-US" sz="4000" dirty="0">
                <a:solidFill>
                  <a:schemeClr val="bg1"/>
                </a:solidFill>
              </a:rPr>
              <a:t>Availability × Performance × Quality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Purpose: </a:t>
            </a:r>
          </a:p>
          <a:p>
            <a:pPr lvl="4" fontAlgn="t"/>
            <a:r>
              <a:rPr lang="en-US" sz="4000" dirty="0">
                <a:solidFill>
                  <a:schemeClr val="bg1"/>
                </a:solidFill>
              </a:rPr>
              <a:t>Provide a single, comprehensive efficiency metric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Insight: </a:t>
            </a:r>
          </a:p>
          <a:p>
            <a:pPr lvl="4" fontAlgn="t"/>
            <a:r>
              <a:rPr lang="en-US" sz="4000" dirty="0">
                <a:solidFill>
                  <a:schemeClr val="bg1"/>
                </a:solidFill>
              </a:rPr>
              <a:t>Highlights the main source of efficiency losses</a:t>
            </a:r>
          </a:p>
        </p:txBody>
      </p:sp>
    </p:spTree>
    <p:extLst>
      <p:ext uri="{BB962C8B-B14F-4D97-AF65-F5344CB8AC3E}">
        <p14:creationId xmlns:p14="http://schemas.microsoft.com/office/powerpoint/2010/main" val="1368539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F1B30-6DF8-A301-17EB-5A23DD9CE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3FE0505-2BE4-527D-033B-B055069BB08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C62C86E-4AB8-0BA0-FC43-DD5C3D27A9A4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AE40E0E-8191-7268-5D61-E3057C59EFF9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8BC4F6E-3AA8-C1E4-B0A6-604536DAB85B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C76F0A4-51AC-14EF-678B-0348A965BAEF}"/>
              </a:ext>
            </a:extLst>
          </p:cNvPr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316496E-BFD1-F92B-4CCC-B84E7FEBA924}"/>
              </a:ext>
            </a:extLst>
          </p:cNvPr>
          <p:cNvSpPr txBox="1"/>
          <p:nvPr/>
        </p:nvSpPr>
        <p:spPr>
          <a:xfrm>
            <a:off x="3352213" y="558950"/>
            <a:ext cx="11583573" cy="9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KPIs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43B727-3847-EE66-E2A5-EE6A9712EBFE}"/>
              </a:ext>
            </a:extLst>
          </p:cNvPr>
          <p:cNvSpPr txBox="1"/>
          <p:nvPr/>
        </p:nvSpPr>
        <p:spPr>
          <a:xfrm>
            <a:off x="1219199" y="3197678"/>
            <a:ext cx="15849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sz="4000" b="1" dirty="0">
                <a:solidFill>
                  <a:schemeClr val="bg1"/>
                </a:solidFill>
              </a:rPr>
              <a:t>Maintenance KPIs</a:t>
            </a:r>
            <a:endParaRPr lang="en-US" sz="4000" dirty="0">
              <a:solidFill>
                <a:schemeClr val="bg1"/>
              </a:solidFill>
            </a:endParaRP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Evaluate maintenance effectiveness</a:t>
            </a:r>
            <a:endParaRPr lang="en-US" sz="4000" dirty="0">
              <a:solidFill>
                <a:schemeClr val="bg1"/>
              </a:solidFill>
            </a:endParaRP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MTBF (Mean Time Between Failures)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</a:p>
          <a:p>
            <a:pPr lvl="4" fontAlgn="t"/>
            <a:r>
              <a:rPr lang="en-US" sz="4000" dirty="0">
                <a:solidFill>
                  <a:schemeClr val="bg1"/>
                </a:solidFill>
              </a:rPr>
              <a:t>Measures average operating time between failures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MTTR (Mean Time To Repair)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</a:p>
          <a:p>
            <a:pPr lvl="4" fontAlgn="t"/>
            <a:r>
              <a:rPr lang="en-US" sz="4000" dirty="0">
                <a:solidFill>
                  <a:schemeClr val="bg1"/>
                </a:solidFill>
              </a:rPr>
              <a:t>Measures average time required to restore equipment</a:t>
            </a:r>
          </a:p>
          <a:p>
            <a:pPr marL="1028700" lvl="1" indent="-571500" fontAlgn="t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bg1"/>
                </a:solidFill>
              </a:rPr>
              <a:t>Cost per Failure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</a:p>
          <a:p>
            <a:pPr lvl="4" fontAlgn="t"/>
            <a:r>
              <a:rPr lang="en-US" sz="4000" dirty="0">
                <a:solidFill>
                  <a:schemeClr val="bg1"/>
                </a:solidFill>
              </a:rPr>
              <a:t>Total maintenance cost ÷ Number of failures</a:t>
            </a:r>
          </a:p>
        </p:txBody>
      </p:sp>
    </p:spTree>
    <p:extLst>
      <p:ext uri="{BB962C8B-B14F-4D97-AF65-F5344CB8AC3E}">
        <p14:creationId xmlns:p14="http://schemas.microsoft.com/office/powerpoint/2010/main" val="2676368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65475-4C66-C44D-212C-C9C199299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9C16281-F515-DC32-56E8-F6979A8344E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CCA3535-236B-2857-29F0-A8511694182C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7B89BAB-5281-5B5F-7511-0EF34032C9EA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62187EC-ACF5-5724-FD00-EED8CEE93304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365A3624-6F66-3932-1E3E-1D10CF6BCEFC}"/>
              </a:ext>
            </a:extLst>
          </p:cNvPr>
          <p:cNvSpPr txBox="1"/>
          <p:nvPr/>
        </p:nvSpPr>
        <p:spPr>
          <a:xfrm>
            <a:off x="7124700" y="478762"/>
            <a:ext cx="4000500" cy="91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</a:pPr>
            <a:r>
              <a:rPr lang="en-US" sz="6999" b="1" u="none" strike="noStrike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BEDF26E-EBD0-4E0E-7A8D-DAF8A57DCAF7}"/>
              </a:ext>
            </a:extLst>
          </p:cNvPr>
          <p:cNvSpPr/>
          <p:nvPr/>
        </p:nvSpPr>
        <p:spPr>
          <a:xfrm>
            <a:off x="1600200" y="2410562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Introduction To Data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69D3527-0427-0EC0-09F7-EC2A6A1A8D0F}"/>
              </a:ext>
            </a:extLst>
          </p:cNvPr>
          <p:cNvSpPr/>
          <p:nvPr/>
        </p:nvSpPr>
        <p:spPr>
          <a:xfrm>
            <a:off x="1600200" y="4435541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Data Cleaning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50443A5-BD00-6DC9-ECDD-F34800D8B934}"/>
              </a:ext>
            </a:extLst>
          </p:cNvPr>
          <p:cNvSpPr/>
          <p:nvPr/>
        </p:nvSpPr>
        <p:spPr>
          <a:xfrm>
            <a:off x="1600200" y="6515100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Data Modeling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BA1AF3B-5CDC-3A85-6B79-600B9ABDC3BE}"/>
              </a:ext>
            </a:extLst>
          </p:cNvPr>
          <p:cNvSpPr/>
          <p:nvPr/>
        </p:nvSpPr>
        <p:spPr>
          <a:xfrm>
            <a:off x="9738359" y="4447976"/>
            <a:ext cx="7132320" cy="1371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Dashboard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3A61910-A4BD-D50C-852D-BF2BBCF183E2}"/>
              </a:ext>
            </a:extLst>
          </p:cNvPr>
          <p:cNvCxnSpPr>
            <a:cxnSpLocks/>
          </p:cNvCxnSpPr>
          <p:nvPr/>
        </p:nvCxnSpPr>
        <p:spPr>
          <a:xfrm>
            <a:off x="772341" y="3096362"/>
            <a:ext cx="0" cy="410453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DB5048D-F9DC-8652-042B-9C3CBFD73750}"/>
              </a:ext>
            </a:extLst>
          </p:cNvPr>
          <p:cNvCxnSpPr>
            <a:cxnSpLocks/>
          </p:cNvCxnSpPr>
          <p:nvPr/>
        </p:nvCxnSpPr>
        <p:spPr>
          <a:xfrm>
            <a:off x="16805160" y="5121341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DF51A26-C33A-968D-9F05-6B5FE0CE32BE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756285" y="7200900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19484B0-F822-8719-911B-A73DB91E0F3F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756285" y="5121341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D90D146-DB93-8D01-324A-3A1531306DBA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756285" y="3096362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9029BFC-AD60-4AE5-86A0-AEF4612A9CA0}"/>
              </a:ext>
            </a:extLst>
          </p:cNvPr>
          <p:cNvSpPr/>
          <p:nvPr/>
        </p:nvSpPr>
        <p:spPr>
          <a:xfrm>
            <a:off x="9738359" y="6515100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Insights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6FC4BF-386C-3905-9A71-9B785BE3C0F5}"/>
              </a:ext>
            </a:extLst>
          </p:cNvPr>
          <p:cNvSpPr/>
          <p:nvPr/>
        </p:nvSpPr>
        <p:spPr>
          <a:xfrm>
            <a:off x="9738359" y="2504427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KPIs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145522-5E8A-C8A0-478C-2745F5AE221E}"/>
              </a:ext>
            </a:extLst>
          </p:cNvPr>
          <p:cNvCxnSpPr>
            <a:cxnSpLocks/>
          </p:cNvCxnSpPr>
          <p:nvPr/>
        </p:nvCxnSpPr>
        <p:spPr>
          <a:xfrm>
            <a:off x="16805160" y="3105433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49B6DC5-42B7-1A99-DABC-E17F83616E65}"/>
              </a:ext>
            </a:extLst>
          </p:cNvPr>
          <p:cNvCxnSpPr>
            <a:cxnSpLocks/>
          </p:cNvCxnSpPr>
          <p:nvPr/>
        </p:nvCxnSpPr>
        <p:spPr>
          <a:xfrm>
            <a:off x="16805160" y="7200900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9C9A2BD-95C8-DE47-7DF0-0A179C1E3281}"/>
              </a:ext>
            </a:extLst>
          </p:cNvPr>
          <p:cNvCxnSpPr>
            <a:cxnSpLocks/>
          </p:cNvCxnSpPr>
          <p:nvPr/>
        </p:nvCxnSpPr>
        <p:spPr>
          <a:xfrm>
            <a:off x="17668309" y="3096362"/>
            <a:ext cx="0" cy="410453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057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765EC-372C-EB0F-4CAE-D724BAE67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C9E85D-9DAB-8D8D-1B09-204BC2D99D1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102BB00-FA69-2D53-AE69-9F6C92A96C80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C156CE8-E0BF-5623-3619-05CF791D9451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2B68435-917E-0B38-5D94-502348B8F028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71C03B3-2D38-C7A1-9F73-F26EC91F9AF5}"/>
              </a:ext>
            </a:extLst>
          </p:cNvPr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546243F-925C-D97C-7FFB-27C00719D484}"/>
              </a:ext>
            </a:extLst>
          </p:cNvPr>
          <p:cNvSpPr txBox="1"/>
          <p:nvPr/>
        </p:nvSpPr>
        <p:spPr>
          <a:xfrm>
            <a:off x="3352213" y="558950"/>
            <a:ext cx="11583573" cy="9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0E90E2-ACF5-C8D5-5F9E-44A7E65A0BB5}"/>
              </a:ext>
            </a:extLst>
          </p:cNvPr>
          <p:cNvSpPr txBox="1"/>
          <p:nvPr/>
        </p:nvSpPr>
        <p:spPr>
          <a:xfrm>
            <a:off x="1181100" y="2038747"/>
            <a:ext cx="15925800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1300" dirty="0">
                <a:solidFill>
                  <a:schemeClr val="bg1"/>
                </a:solidFill>
              </a:rPr>
              <a:t>Ready?</a:t>
            </a:r>
          </a:p>
        </p:txBody>
      </p:sp>
    </p:spTree>
    <p:extLst>
      <p:ext uri="{BB962C8B-B14F-4D97-AF65-F5344CB8AC3E}">
        <p14:creationId xmlns:p14="http://schemas.microsoft.com/office/powerpoint/2010/main" val="2020967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01439-2865-C0ED-AAB2-D3A415ECD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BAF8F2-9C95-32FB-E4E1-805CDA79F5A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AF0C1DB-1614-FFD6-8C45-95B1BC263599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A5549DA-88DB-C7E9-4CC2-54149326DEEE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9B4DFD5-B33F-3964-23E1-C8766DFED943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4DE365E4-7455-D6ED-07BE-280D29D79802}"/>
              </a:ext>
            </a:extLst>
          </p:cNvPr>
          <p:cNvSpPr txBox="1"/>
          <p:nvPr/>
        </p:nvSpPr>
        <p:spPr>
          <a:xfrm>
            <a:off x="7124700" y="478762"/>
            <a:ext cx="4000500" cy="914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</a:pPr>
            <a:r>
              <a:rPr lang="en-US" sz="6999" b="1" u="none" strike="noStrike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69AE40F-AA43-5FAD-C0CC-E102B6E9CAB5}"/>
              </a:ext>
            </a:extLst>
          </p:cNvPr>
          <p:cNvSpPr/>
          <p:nvPr/>
        </p:nvSpPr>
        <p:spPr>
          <a:xfrm>
            <a:off x="1600200" y="2410562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Introduction To Data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3028ECB-BA7A-7F18-E78C-C92A50BA48F2}"/>
              </a:ext>
            </a:extLst>
          </p:cNvPr>
          <p:cNvSpPr/>
          <p:nvPr/>
        </p:nvSpPr>
        <p:spPr>
          <a:xfrm>
            <a:off x="1600200" y="4435541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Data Cleaning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589DFA-02E2-C588-507B-159EC140EF6C}"/>
              </a:ext>
            </a:extLst>
          </p:cNvPr>
          <p:cNvSpPr/>
          <p:nvPr/>
        </p:nvSpPr>
        <p:spPr>
          <a:xfrm>
            <a:off x="1600200" y="6515100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Data Modeling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B09FBC-9B93-BD40-10AA-FA0E86D4C318}"/>
              </a:ext>
            </a:extLst>
          </p:cNvPr>
          <p:cNvSpPr/>
          <p:nvPr/>
        </p:nvSpPr>
        <p:spPr>
          <a:xfrm>
            <a:off x="9738359" y="4447976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Dashboard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50E4B1D-1977-18CF-FD2E-9B5668FE7434}"/>
              </a:ext>
            </a:extLst>
          </p:cNvPr>
          <p:cNvCxnSpPr>
            <a:cxnSpLocks/>
          </p:cNvCxnSpPr>
          <p:nvPr/>
        </p:nvCxnSpPr>
        <p:spPr>
          <a:xfrm>
            <a:off x="772341" y="3096362"/>
            <a:ext cx="0" cy="410453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6F362CA-BA2F-D0C3-B1A4-BDE775E4D332}"/>
              </a:ext>
            </a:extLst>
          </p:cNvPr>
          <p:cNvCxnSpPr>
            <a:cxnSpLocks/>
          </p:cNvCxnSpPr>
          <p:nvPr/>
        </p:nvCxnSpPr>
        <p:spPr>
          <a:xfrm>
            <a:off x="16805160" y="5121341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1942653-A349-ECC9-F6CA-C881C5508140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756285" y="7200900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83F41DA-0030-2359-E378-A62CFFD0D22A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756285" y="5121341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BB39BBB-D2AA-567F-4083-D23E60C47CA5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756285" y="3096362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456B37-A302-A5DA-11C5-1CAE454B71A4}"/>
              </a:ext>
            </a:extLst>
          </p:cNvPr>
          <p:cNvSpPr/>
          <p:nvPr/>
        </p:nvSpPr>
        <p:spPr>
          <a:xfrm>
            <a:off x="9738359" y="6515100"/>
            <a:ext cx="7132320" cy="13716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Insights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D007CDC-6CEF-F9D8-21AA-F1FA4D9D905B}"/>
              </a:ext>
            </a:extLst>
          </p:cNvPr>
          <p:cNvSpPr/>
          <p:nvPr/>
        </p:nvSpPr>
        <p:spPr>
          <a:xfrm>
            <a:off x="9738359" y="2504427"/>
            <a:ext cx="7132320" cy="1371600"/>
          </a:xfrm>
          <a:prstGeom prst="roundRect">
            <a:avLst/>
          </a:prstGeom>
          <a:solidFill>
            <a:srgbClr val="5CA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KPIs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D32AC2C-D0DE-8B02-301D-CF1C96038C5D}"/>
              </a:ext>
            </a:extLst>
          </p:cNvPr>
          <p:cNvCxnSpPr>
            <a:cxnSpLocks/>
          </p:cNvCxnSpPr>
          <p:nvPr/>
        </p:nvCxnSpPr>
        <p:spPr>
          <a:xfrm>
            <a:off x="16805160" y="3105433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6B7C6FE-BAEB-F15A-652C-5BE7C6F88AB6}"/>
              </a:ext>
            </a:extLst>
          </p:cNvPr>
          <p:cNvCxnSpPr>
            <a:cxnSpLocks/>
          </p:cNvCxnSpPr>
          <p:nvPr/>
        </p:nvCxnSpPr>
        <p:spPr>
          <a:xfrm>
            <a:off x="16805160" y="7200900"/>
            <a:ext cx="8439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96394AA-BAD0-C408-545B-69FDD1E12FED}"/>
              </a:ext>
            </a:extLst>
          </p:cNvPr>
          <p:cNvCxnSpPr>
            <a:cxnSpLocks/>
          </p:cNvCxnSpPr>
          <p:nvPr/>
        </p:nvCxnSpPr>
        <p:spPr>
          <a:xfrm>
            <a:off x="17668309" y="3096362"/>
            <a:ext cx="0" cy="4104538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633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73BE6-D953-14A5-F85E-309E64B77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68AD369-0668-4BAC-49E8-9EB49C68D6F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D3EE410-D864-7F68-73A2-E5FDCAB0609F}"/>
              </a:ext>
            </a:extLst>
          </p:cNvPr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5C122EA-D073-BA06-7C74-D4C872A235A5}"/>
                </a:ext>
              </a:extLst>
            </p:cNvPr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6730A99-2163-3D92-A7C4-D1F3F2A19586}"/>
                </a:ext>
              </a:extLst>
            </p:cNvPr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F300FCD-4D95-9515-D0C6-E62D8B58EE1B}"/>
              </a:ext>
            </a:extLst>
          </p:cNvPr>
          <p:cNvSpPr/>
          <p:nvPr/>
        </p:nvSpPr>
        <p:spPr>
          <a:xfrm>
            <a:off x="163585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D2299CF-89C6-4570-48D9-47BA9DE37207}"/>
              </a:ext>
            </a:extLst>
          </p:cNvPr>
          <p:cNvSpPr txBox="1"/>
          <p:nvPr/>
        </p:nvSpPr>
        <p:spPr>
          <a:xfrm>
            <a:off x="3352213" y="558950"/>
            <a:ext cx="11583573" cy="91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5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402B71-DD13-700E-8689-445E0F9E8D27}"/>
              </a:ext>
            </a:extLst>
          </p:cNvPr>
          <p:cNvSpPr txBox="1"/>
          <p:nvPr/>
        </p:nvSpPr>
        <p:spPr>
          <a:xfrm>
            <a:off x="1219199" y="2248118"/>
            <a:ext cx="158496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fontAlgn="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Availability is relatively high, indicating that machine breakdowns are not the primary issue.</a:t>
            </a:r>
          </a:p>
          <a:p>
            <a:pPr marL="571500" indent="-571500" fontAlgn="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Quality levels are very high, showing stable production and low defect rates.</a:t>
            </a:r>
          </a:p>
          <a:p>
            <a:pPr marL="571500" indent="-571500" fontAlgn="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Performance is significantly lower than availability and quality.</a:t>
            </a:r>
          </a:p>
          <a:p>
            <a:pPr marL="571500" indent="-571500" fontAlgn="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The main efficiency loss comes from machines running below their maximum speed.</a:t>
            </a:r>
          </a:p>
          <a:p>
            <a:pPr marL="571500" indent="-571500" fontAlgn="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Slow-running conditions are the dominant factor impacting overall OEE.</a:t>
            </a:r>
          </a:p>
          <a:p>
            <a:pPr marL="571500" indent="-571500" fontAlgn="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Maintenance activities reduce downtime but do not fully address performance losses.</a:t>
            </a:r>
          </a:p>
          <a:p>
            <a:pPr marL="571500" indent="-571500" fontAlgn="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</a:rPr>
              <a:t>There is clear potential to improve OEE by optimizing operating speeds rather than increasing maintenance frequency.</a:t>
            </a:r>
          </a:p>
        </p:txBody>
      </p:sp>
    </p:spTree>
    <p:extLst>
      <p:ext uri="{BB962C8B-B14F-4D97-AF65-F5344CB8AC3E}">
        <p14:creationId xmlns:p14="http://schemas.microsoft.com/office/powerpoint/2010/main" val="3940541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560343" y="9889125"/>
            <a:ext cx="19408687" cy="996493"/>
            <a:chOff x="0" y="0"/>
            <a:chExt cx="5111753" cy="26245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11753" cy="262451"/>
            </a:xfrm>
            <a:custGeom>
              <a:avLst/>
              <a:gdLst/>
              <a:ahLst/>
              <a:cxnLst/>
              <a:rect l="l" t="t" r="r" b="b"/>
              <a:pathLst>
                <a:path w="5111753" h="262451">
                  <a:moveTo>
                    <a:pt x="0" y="0"/>
                  </a:moveTo>
                  <a:lnTo>
                    <a:pt x="5111753" y="0"/>
                  </a:lnTo>
                  <a:lnTo>
                    <a:pt x="5111753" y="262451"/>
                  </a:lnTo>
                  <a:lnTo>
                    <a:pt x="0" y="262451"/>
                  </a:lnTo>
                  <a:close/>
                </a:path>
              </a:pathLst>
            </a:custGeom>
            <a:solidFill>
              <a:srgbClr val="5CA3B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11753" cy="319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615651" y="3178002"/>
            <a:ext cx="9056698" cy="180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670413" y="5384437"/>
            <a:ext cx="6947174" cy="1438812"/>
            <a:chOff x="0" y="0"/>
            <a:chExt cx="1829708" cy="3789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29708" cy="378946"/>
            </a:xfrm>
            <a:custGeom>
              <a:avLst/>
              <a:gdLst/>
              <a:ahLst/>
              <a:cxnLst/>
              <a:rect l="l" t="t" r="r" b="b"/>
              <a:pathLst>
                <a:path w="1829708" h="378946">
                  <a:moveTo>
                    <a:pt x="111440" y="0"/>
                  </a:moveTo>
                  <a:lnTo>
                    <a:pt x="1718269" y="0"/>
                  </a:lnTo>
                  <a:cubicBezTo>
                    <a:pt x="1779815" y="0"/>
                    <a:pt x="1829708" y="49893"/>
                    <a:pt x="1829708" y="111440"/>
                  </a:cubicBezTo>
                  <a:lnTo>
                    <a:pt x="1829708" y="267506"/>
                  </a:lnTo>
                  <a:cubicBezTo>
                    <a:pt x="1829708" y="297062"/>
                    <a:pt x="1817968" y="325407"/>
                    <a:pt x="1797068" y="346306"/>
                  </a:cubicBezTo>
                  <a:cubicBezTo>
                    <a:pt x="1776169" y="367205"/>
                    <a:pt x="1747824" y="378946"/>
                    <a:pt x="1718269" y="378946"/>
                  </a:cubicBezTo>
                  <a:lnTo>
                    <a:pt x="111440" y="378946"/>
                  </a:lnTo>
                  <a:cubicBezTo>
                    <a:pt x="81884" y="378946"/>
                    <a:pt x="53539" y="367205"/>
                    <a:pt x="32640" y="346306"/>
                  </a:cubicBezTo>
                  <a:cubicBezTo>
                    <a:pt x="11741" y="325407"/>
                    <a:pt x="0" y="297062"/>
                    <a:pt x="0" y="267506"/>
                  </a:cubicBezTo>
                  <a:lnTo>
                    <a:pt x="0" y="111440"/>
                  </a:lnTo>
                  <a:cubicBezTo>
                    <a:pt x="0" y="81884"/>
                    <a:pt x="11741" y="53539"/>
                    <a:pt x="32640" y="32640"/>
                  </a:cubicBezTo>
                  <a:cubicBezTo>
                    <a:pt x="53539" y="11741"/>
                    <a:pt x="81884" y="0"/>
                    <a:pt x="111440" y="0"/>
                  </a:cubicBezTo>
                  <a:close/>
                </a:path>
              </a:pathLst>
            </a:custGeom>
            <a:ln w="85725" cap="rnd">
              <a:solidFill>
                <a:srgbClr val="5CA3B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829708" cy="436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101144" y="5733955"/>
            <a:ext cx="6085713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your attention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7535564" y="1028700"/>
            <a:ext cx="642386" cy="729984"/>
          </a:xfrm>
          <a:custGeom>
            <a:avLst/>
            <a:gdLst/>
            <a:ahLst/>
            <a:cxnLst/>
            <a:rect l="l" t="t" r="r" b="b"/>
            <a:pathLst>
              <a:path w="642386" h="729984">
                <a:moveTo>
                  <a:pt x="0" y="0"/>
                </a:moveTo>
                <a:lnTo>
                  <a:pt x="642387" y="0"/>
                </a:lnTo>
                <a:lnTo>
                  <a:pt x="642387" y="729984"/>
                </a:lnTo>
                <a:lnTo>
                  <a:pt x="0" y="7299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6398466" y="8255873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028700" y="1028700"/>
            <a:ext cx="860834" cy="1002427"/>
          </a:xfrm>
          <a:custGeom>
            <a:avLst/>
            <a:gdLst/>
            <a:ahLst/>
            <a:cxnLst/>
            <a:rect l="l" t="t" r="r" b="b"/>
            <a:pathLst>
              <a:path w="860834" h="1002427">
                <a:moveTo>
                  <a:pt x="0" y="0"/>
                </a:moveTo>
                <a:lnTo>
                  <a:pt x="860834" y="0"/>
                </a:lnTo>
                <a:lnTo>
                  <a:pt x="860834" y="1002427"/>
                </a:lnTo>
                <a:lnTo>
                  <a:pt x="0" y="100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870</Words>
  <Application>Microsoft Office PowerPoint</Application>
  <PresentationFormat>Custom</PresentationFormat>
  <Paragraphs>197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Poppins Bold</vt:lpstr>
      <vt:lpstr>Calibri</vt:lpstr>
      <vt:lpstr>Segoe UI</vt:lpstr>
      <vt:lpstr>Aptos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Teal Modern Data Analysts Presentation</dc:title>
  <dc:creator>Ahmed Yasser</dc:creator>
  <cp:lastModifiedBy>احمد ياسر  احمد موسى ابوبلابل</cp:lastModifiedBy>
  <cp:revision>25</cp:revision>
  <dcterms:created xsi:type="dcterms:W3CDTF">2006-08-16T00:00:00Z</dcterms:created>
  <dcterms:modified xsi:type="dcterms:W3CDTF">2026-04-15T16:47:43Z</dcterms:modified>
  <dc:identifier>DAHDv6SqJr0</dc:identifier>
</cp:coreProperties>
</file>