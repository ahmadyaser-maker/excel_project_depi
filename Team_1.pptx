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B2A4A">
              <a:alpha val="90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1325880"/>
            <a:ext cx="64008" cy="182880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5800" y="1188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685800" y="18288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Analysis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2651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maintenance intelligence for industrial operations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D1C30"/>
          </a:solidFill>
          <a:ln w="12700">
            <a:solidFill>
              <a:srgbClr val="0D1C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531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|  Team 1  |  Supervised by Dr. Amal Mahmoud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011680" cy="43205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" y="12801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Amal Mahmoud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920240"/>
            <a:ext cx="1143000" cy="114300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94560" y="914400"/>
            <a:ext cx="166420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194560" y="914400"/>
            <a:ext cx="1664208" cy="13716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1188720"/>
            <a:ext cx="914400" cy="914400"/>
          </a:xfrm>
          <a:prstGeom prst="ellipse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94560" y="221284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Yasser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194560" y="26334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01555804012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240280" y="28803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linkedin.com/in/ahmedyassermousa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895344" y="914400"/>
            <a:ext cx="166420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895344" y="914400"/>
            <a:ext cx="1664208" cy="13716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1188720"/>
            <a:ext cx="914400" cy="914400"/>
          </a:xfrm>
          <a:prstGeom prst="ellipse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95344" y="221284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El-Nady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895344" y="26334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01152455483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941064" y="28803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linkedin.com/in/mohamed--el-nady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5596128" y="914400"/>
            <a:ext cx="166420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596128" y="914400"/>
            <a:ext cx="1664208" cy="13716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1188720"/>
            <a:ext cx="914400" cy="914400"/>
          </a:xfrm>
          <a:prstGeom prst="ellipse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96128" y="221284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Adel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296912" y="914400"/>
            <a:ext cx="1664208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96912" y="914400"/>
            <a:ext cx="1664208" cy="13716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816" y="1188720"/>
            <a:ext cx="914400" cy="914400"/>
          </a:xfrm>
          <a:prstGeom prst="ellipse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96912" y="2212848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 Mohamed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296912" y="263347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01551474804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7342632" y="28803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linkedin.com/in/abdulrahman-salahuddin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27432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206240" cy="1005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502920" cy="100584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52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184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overview, structure &amp; objectives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206240" cy="1005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502920" cy="100584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441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807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outliers &amp; reliability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206240" cy="1005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502920" cy="100584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20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6301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995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&amp; dimensional design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4206240" cy="1005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143000"/>
            <a:ext cx="502920" cy="100584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4300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252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61848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OEE, Availability, Performance, Quality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31720"/>
            <a:ext cx="4206240" cy="1005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331720"/>
            <a:ext cx="502920" cy="100584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33172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441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807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management-level visuals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206240" cy="1005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520440"/>
            <a:ext cx="502920" cy="100584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52044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6301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Findings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9959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analysis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64008" cy="432054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141732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industrial machine operation data from a multi-machine manufacturing environment.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6517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651760"/>
            <a:ext cx="54864" cy="141732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614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906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operational records with multiple machines running simultaneously.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297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05840"/>
            <a:ext cx="429768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Objectives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618488"/>
            <a:ext cx="164592" cy="164592"/>
          </a:xfrm>
          <a:prstGeom prst="ellipse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554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operational efficiency across all machines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30552"/>
            <a:ext cx="164592" cy="164592"/>
          </a:xfrm>
          <a:prstGeom prst="ellipse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066544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manufacturing KPIs (OEE, Availability, Quality)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642616"/>
            <a:ext cx="164592" cy="164592"/>
          </a:xfrm>
          <a:prstGeom prst="ellipse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578608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management-level dashboard for decision support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164592" cy="164592"/>
          </a:xfrm>
          <a:prstGeom prst="ellipse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09067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proactive maintenance: Preventive &amp; Predictive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66744"/>
            <a:ext cx="164592" cy="164592"/>
          </a:xfrm>
          <a:prstGeom prst="ellipse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602736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root causes of downtime and failure events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48640" y="4636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40280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240280" y="4636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31920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931920" y="4636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Types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3560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623560" y="4636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0" y="4361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315200" y="4636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Types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8346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maintenance based on time or usage intervals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587752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87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before failure occurs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108960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083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unexpected downtime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3630168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29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resource allocation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4151376"/>
            <a:ext cx="109728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per intervention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960120"/>
            <a:ext cx="2834640" cy="68580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0" y="1005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8328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maintenance based on real-time machine condition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2587752"/>
            <a:ext cx="109728" cy="109728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2487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sensor data &amp; machine signals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108960"/>
            <a:ext cx="109728" cy="109728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30083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failures before they occur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383280" y="3630168"/>
            <a:ext cx="109728" cy="109728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529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unnecessary maintenance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83280" y="4151376"/>
            <a:ext cx="109728" cy="109728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cost &amp; uptime balance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960120"/>
            <a:ext cx="2834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960120"/>
            <a:ext cx="2834640" cy="6858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1005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12280" y="10058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55080" y="1783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after a failure has already occurred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55080" y="2587752"/>
            <a:ext cx="109728" cy="10972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24871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— triggered by breakdown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55080" y="3108960"/>
            <a:ext cx="109728" cy="10972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00837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equipment to normal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55080" y="3630168"/>
            <a:ext cx="109728" cy="10972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35295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cost per event ($633 avg)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55080" y="4151376"/>
            <a:ext cx="109728" cy="10972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40507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unplanned downtime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data reliability before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2588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490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8562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Distinguished missing from zero values. Verified all null fields and their context before handling.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325880"/>
            <a:ext cx="54864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2588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532120" y="14904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32120" y="185623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extreme RPM values (too low or too high). Applied domain logic rather than pure statistics.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1752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182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Constraints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5478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Enforced: Production units ≥ 0, Downtime ≥ 0, Failures aligned with downtime hours.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017520"/>
            <a:ext cx="548640" cy="1508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17520"/>
            <a:ext cx="548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32120" y="31821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Preservation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35478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aggressive removal — preserved realistic operational behavior including rare but valid edge cases.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Clean, validated dataset ready for accurate KPI calculation and dimensional modeling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Business Questions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great data model starts by answering the right business questions.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822960" cy="1508760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822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Who?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8872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Dimension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9476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Machine ID, type (LATHE, CNC, PRESS, CONVEYOR), brand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41732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17320"/>
            <a:ext cx="82296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822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76072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Dimension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194767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ID, product type (L, M, H quality grades)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10896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108960"/>
            <a:ext cx="822960" cy="15087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08960"/>
            <a:ext cx="822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When?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Dimension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6393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Date, hour, day, month for trend &amp; seasonality analysis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3108960"/>
            <a:ext cx="42976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108960"/>
            <a:ext cx="822960" cy="1508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108960"/>
            <a:ext cx="822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760720" y="3246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&amp; Maintenance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363931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Failure type, maintenance type and cost impact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Star Schema Design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37560" y="1874520"/>
            <a:ext cx="2468880" cy="1737360"/>
          </a:xfrm>
          <a:prstGeom prst="rect">
            <a:avLst/>
          </a:prstGeom>
          <a:solidFill>
            <a:srgbClr val="1B2A4A"/>
          </a:solidFill>
          <a:ln w="12700">
            <a:solidFill>
              <a:srgbClr val="02B5A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37560" y="1874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29000" y="2267712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Hours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Hours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Units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Events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87452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874520"/>
            <a:ext cx="2377440" cy="292608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74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DimMachine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20370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Machine_ID, Type, Brand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0" y="187452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874520"/>
            <a:ext cx="237744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8745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20370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Product_ID, Type (L/M/H)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86868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68680"/>
            <a:ext cx="2377440" cy="2926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868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DimTime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11978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Hour, Day, Month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384048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3840480"/>
            <a:ext cx="23774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840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DimFailure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41696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Type, Code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3840480"/>
            <a:ext cx="23774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840480"/>
            <a:ext cx="237744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8404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DimMaintenance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416966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maint_key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Cost, Duration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60320" y="2395728"/>
            <a:ext cx="777240" cy="0"/>
          </a:xfrm>
          <a:prstGeom prst="line">
            <a:avLst/>
          </a:prstGeom>
          <a:noFill/>
          <a:ln w="19050">
            <a:solidFill>
              <a:srgbClr val="5F7A9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5806440" y="2395728"/>
            <a:ext cx="502920" cy="0"/>
          </a:xfrm>
          <a:prstGeom prst="line">
            <a:avLst/>
          </a:prstGeom>
          <a:noFill/>
          <a:ln w="19050">
            <a:solidFill>
              <a:srgbClr val="5F7A99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572000" y="1298448"/>
            <a:ext cx="0" cy="576072"/>
          </a:xfrm>
          <a:prstGeom prst="line">
            <a:avLst/>
          </a:prstGeom>
          <a:noFill/>
          <a:ln w="19050">
            <a:solidFill>
              <a:srgbClr val="5F7A99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572000" y="3611880"/>
            <a:ext cx="0" cy="228600"/>
          </a:xfrm>
          <a:prstGeom prst="line">
            <a:avLst/>
          </a:prstGeom>
          <a:noFill/>
          <a:ln w="19050">
            <a:solidFill>
              <a:srgbClr val="5F7A99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806440" y="4361688"/>
            <a:ext cx="502920" cy="0"/>
          </a:xfrm>
          <a:prstGeom prst="line">
            <a:avLst/>
          </a:prstGeom>
          <a:noFill/>
          <a:ln w="19050">
            <a:solidFill>
              <a:srgbClr val="5F7A99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metrics that define manufacturing excellence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27432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463040"/>
            <a:ext cx="1554480" cy="3291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155448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93192" y="221284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852928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907792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(Op. Time − Downtime) ÷ Op. Time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3639312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3703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uptime readiness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20824" y="1463040"/>
            <a:ext cx="1554480" cy="3291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20824" y="1463040"/>
            <a:ext cx="1554480" cy="640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0824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93976" y="221284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03704" y="2852928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93976" y="2907792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÷ Theoretical Output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03704" y="3639312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93976" y="3703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vs maximum capability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21608" y="1463040"/>
            <a:ext cx="1554480" cy="3291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1608" y="1463040"/>
            <a:ext cx="155448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21608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794760" y="221284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04488" y="2852928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2907792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Units ÷ Total Units Produced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04488" y="3639312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3703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Defect-free production rate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22392" y="1463040"/>
            <a:ext cx="1554480" cy="3291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22392" y="1463040"/>
            <a:ext cx="1554480" cy="6400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22392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95544" y="221284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Equipment Effectiveness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05272" y="2852928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95544" y="2907792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× Performance × Quality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05272" y="3639312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95544" y="3703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efficiency score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23176" y="1463040"/>
            <a:ext cx="1554480" cy="3291840"/>
          </a:xfrm>
          <a:prstGeom prst="rect">
            <a:avLst/>
          </a:prstGeom>
          <a:solidFill>
            <a:srgbClr val="253B5E"/>
          </a:solidFill>
          <a:ln w="12700">
            <a:solidFill>
              <a:srgbClr val="304D7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23176" y="1463040"/>
            <a:ext cx="155448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23176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196328" y="2212848"/>
            <a:ext cx="14081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KPIs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06056" y="2852928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96328" y="2907792"/>
            <a:ext cx="14081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 |  MTTR  |  Cost/Failure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06056" y="3639312"/>
            <a:ext cx="1188720" cy="0"/>
          </a:xfrm>
          <a:prstGeom prst="line">
            <a:avLst/>
          </a:prstGeom>
          <a:noFill/>
          <a:ln w="6350">
            <a:solidFill>
              <a:srgbClr val="304D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96328" y="3703320"/>
            <a:ext cx="1408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&amp; repair speed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Availability &amp;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7840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307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machine readiness and uptime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37490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299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(Operating Time − Downtime) ÷ Operating 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losses caused by breakdowns and maintenance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57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03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= stable machine reliability. Low availability signals frequent breakdowns or excessive maintenance windows.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960120"/>
            <a:ext cx="4160520" cy="6400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97840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49240" y="987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1307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speed vs. maximum capability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029968"/>
            <a:ext cx="37490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0299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÷ Theoretical 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slow-running and speed losses in production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703320"/>
            <a:ext cx="45720" cy="8229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6632" y="3703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performance is the #1 OEE loss driver in this dataset — machines are running below their maximum RPM capacity.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Quality &amp; OEE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9784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987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307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production quality efficiency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37490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299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Units ÷ Total Units Produced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losses caused by defects and rework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703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levels are very high in this dataset — showing stable production. This is NOT the primary efficiency loss driver.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960120"/>
            <a:ext cx="4160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960120"/>
            <a:ext cx="4160520" cy="64008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97840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987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Equipment Effectiveness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13075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manufacturing metric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029968"/>
            <a:ext cx="374904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0299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× Performance × Quality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2651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one comprehensive efficiency indicator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34015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3703320"/>
            <a:ext cx="45720" cy="8229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6632" y="3703320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insight: Performance is the weakest OEE component. Optimizing machine speed has the highest improvement potential.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Maintenance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8346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7840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4081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Between Failures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256032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Operating Time ÷ Number of Failures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operating time between failure events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25603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301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MTBF = more reliable machines. Benchmark against manufacturer specs to detect degradation early.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96012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960120"/>
            <a:ext cx="2834640" cy="82296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97840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14081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Repair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2194560"/>
            <a:ext cx="256032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Repair Time ÷ Number of Repairs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816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37560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required to restore equipment to operation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566160"/>
            <a:ext cx="2560320" cy="274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6301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MTTR = faster recovery. Key metric for maintenance team efficiency and spare parts availability.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960120"/>
            <a:ext cx="2834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960120"/>
            <a:ext cx="283464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97840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63640" y="14081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Failure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09360" y="2194560"/>
            <a:ext cx="256032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2194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Maintenance Cost ÷ Number of Failures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816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09360" y="309067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incurred per failure event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566160"/>
            <a:ext cx="2560320" cy="274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3630168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finding: Corrective failures cost $633 avg vs $175 preventive — a 3.6× difference per event.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1234440"/>
            <a:ext cx="4572000" cy="2651760"/>
          </a:xfrm>
          <a:prstGeom prst="rect">
            <a:avLst/>
          </a:prstGeom>
          <a:solidFill>
            <a:srgbClr val="152038">
              <a:alpha val="80000"/>
            </a:srgbClr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8600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2286000" y="20116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Ready?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228600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 follows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581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failure rate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819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 of 10,000 records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9601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960120"/>
            <a:ext cx="2011680" cy="7315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68880" y="1581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vs preventive cost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1819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$633 avg vs $175 avg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2011680" cy="7315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1581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failure rate spike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663440" y="1819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2% annual average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0" y="960120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960120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789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58000" y="15819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Flag-triggered failure 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1819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1 flag = near-certain failure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331720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331720"/>
            <a:ext cx="73152" cy="566928"/>
          </a:xfrm>
          <a:prstGeom prst="rect">
            <a:avLst/>
          </a:prstGeom>
          <a:solidFill>
            <a:srgbClr val="02B5A0"/>
          </a:solidFill>
          <a:ln w="12700">
            <a:solidFill>
              <a:srgbClr val="02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2404872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the #1 OEE loss driver — machines run below maximum speed, not because of breakdowns or quality failures.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2999232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999232"/>
            <a:ext cx="73152" cy="56692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072384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June–July seasonal spike: failure rates jump to 9% and 11.4%. Schedule proactive inspections before summer every year.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666744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666744"/>
            <a:ext cx="73152" cy="56692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739896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LATHE machines have the highest failure rate (3.7%) and most downtime. CNC is second. PRESS machines are the most reliable.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334256"/>
            <a:ext cx="8595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334256"/>
            <a:ext cx="73152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407408"/>
            <a:ext cx="8211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wear &gt;200 min drives 15.5% failure rate (vs 2.2% below 150 min). Replace tools before the 200-minute threshold.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920240"/>
            <a:ext cx="9144000" cy="1371600"/>
          </a:xfrm>
          <a:prstGeom prst="rect">
            <a:avLst/>
          </a:prstGeom>
          <a:solidFill>
            <a:srgbClr val="0D1C30">
              <a:alpha val="90000"/>
            </a:srgbClr>
          </a:solidFill>
          <a:ln w="12700">
            <a:solidFill>
              <a:srgbClr val="0D1C3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27249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C30"/>
          </a:solidFill>
          <a:ln w="12700">
            <a:solidFill>
              <a:srgbClr val="0D1C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480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Downtime Analysis  |  Final Project  |  Team 1  |  Supervised by Dr. Amal Mahmoud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Downtime Analysis</dc:title>
  <dc:subject>PptxGenJS Presentation</dc:subject>
  <dc:creator>PptxGenJS</dc:creator>
  <cp:lastModifiedBy>PptxGenJS</cp:lastModifiedBy>
  <cp:revision>1</cp:revision>
  <dcterms:created xsi:type="dcterms:W3CDTF">2026-04-15T17:44:26Z</dcterms:created>
  <dcterms:modified xsi:type="dcterms:W3CDTF">2026-04-15T17:44:26Z</dcterms:modified>
</cp:coreProperties>
</file>